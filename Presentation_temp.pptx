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256" r:id="rId2"/>
    <p:sldId id="294" r:id="rId3"/>
    <p:sldId id="295" r:id="rId4"/>
    <p:sldId id="296" r:id="rId5"/>
    <p:sldId id="297" r:id="rId6"/>
    <p:sldId id="298" r:id="rId7"/>
    <p:sldId id="300" r:id="rId8"/>
    <p:sldId id="301" r:id="rId9"/>
    <p:sldId id="322" r:id="rId10"/>
    <p:sldId id="303" r:id="rId11"/>
    <p:sldId id="304" r:id="rId12"/>
    <p:sldId id="305" r:id="rId13"/>
    <p:sldId id="302" r:id="rId14"/>
    <p:sldId id="307" r:id="rId15"/>
    <p:sldId id="306" r:id="rId16"/>
    <p:sldId id="313" r:id="rId17"/>
    <p:sldId id="316" r:id="rId18"/>
    <p:sldId id="280" r:id="rId19"/>
    <p:sldId id="323" r:id="rId20"/>
    <p:sldId id="324" r:id="rId21"/>
    <p:sldId id="325" r:id="rId22"/>
    <p:sldId id="314" r:id="rId23"/>
  </p:sldIdLst>
  <p:sldSz cx="12192000" cy="6858000"/>
  <p:notesSz cx="6858000" cy="9144000"/>
  <p:embeddedFontLst>
    <p:embeddedFont>
      <p:font typeface="Arial Black" panose="020B0A04020102020204" pitchFamily="34" charset="0"/>
      <p:bold r:id="rId25"/>
    </p:embeddedFont>
    <p:embeddedFont>
      <p:font typeface="Arial Rounded MT Bold" panose="020F0704030504030204" pitchFamily="34" charset="0"/>
      <p:regular r:id="rId26"/>
    </p:embeddedFont>
    <p:embeddedFont>
      <p:font typeface="Baskerville Old Face" panose="02020602080505020303" pitchFamily="18" charset="0"/>
      <p:regular r:id="rId27"/>
    </p:embeddedFont>
    <p:embeddedFont>
      <p:font typeface="Segoe UI Black" panose="020B0A02040204020203" pitchFamily="34" charset="0"/>
      <p:bold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528" userDrawn="1">
          <p15:clr>
            <a:srgbClr val="A4A3A4"/>
          </p15:clr>
        </p15:guide>
        <p15:guide id="3" pos="7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B94"/>
    <a:srgbClr val="0D76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2" autoAdjust="0"/>
    <p:restoredTop sz="91061" autoAdjust="0"/>
  </p:normalViewPr>
  <p:slideViewPr>
    <p:cSldViewPr snapToGrid="0">
      <p:cViewPr varScale="1">
        <p:scale>
          <a:sx n="63" d="100"/>
          <a:sy n="63" d="100"/>
        </p:scale>
        <p:origin x="1068" y="78"/>
      </p:cViewPr>
      <p:guideLst>
        <p:guide orient="horz" pos="3888"/>
        <p:guide pos="528"/>
        <p:guide pos="71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5E4A5-61F0-4A45-A308-BB450F325CC1}" type="datetimeFigureOut">
              <a:rPr lang="en-US" smtClean="0"/>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22913-3848-4702-9CA6-43C445879C43}" type="slidenum">
              <a:rPr lang="en-US" smtClean="0"/>
              <a:t>‹#›</a:t>
            </a:fld>
            <a:endParaRPr lang="en-US"/>
          </a:p>
        </p:txBody>
      </p:sp>
    </p:spTree>
    <p:extLst>
      <p:ext uri="{BB962C8B-B14F-4D97-AF65-F5344CB8AC3E}">
        <p14:creationId xmlns:p14="http://schemas.microsoft.com/office/powerpoint/2010/main" val="311112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endParaRPr lang="en-US" dirty="0"/>
          </a:p>
        </p:txBody>
      </p:sp>
      <p:sp>
        <p:nvSpPr>
          <p:cNvPr id="4" name="Slide Number Placeholder 3"/>
          <p:cNvSpPr>
            <a:spLocks noGrp="1"/>
          </p:cNvSpPr>
          <p:nvPr>
            <p:ph type="sldNum" sz="quarter" idx="5"/>
          </p:nvPr>
        </p:nvSpPr>
        <p:spPr/>
        <p:txBody>
          <a:bodyPr/>
          <a:lstStyle/>
          <a:p>
            <a:fld id="{07D22913-3848-4702-9CA6-43C445879C43}" type="slidenum">
              <a:rPr lang="en-US" smtClean="0"/>
              <a:t>1</a:t>
            </a:fld>
            <a:endParaRPr lang="en-US"/>
          </a:p>
        </p:txBody>
      </p:sp>
    </p:spTree>
    <p:extLst>
      <p:ext uri="{BB962C8B-B14F-4D97-AF65-F5344CB8AC3E}">
        <p14:creationId xmlns:p14="http://schemas.microsoft.com/office/powerpoint/2010/main" val="239856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3</a:t>
            </a:fld>
            <a:endParaRPr lang="en-US"/>
          </a:p>
        </p:txBody>
      </p:sp>
    </p:spTree>
    <p:extLst>
      <p:ext uri="{BB962C8B-B14F-4D97-AF65-F5344CB8AC3E}">
        <p14:creationId xmlns:p14="http://schemas.microsoft.com/office/powerpoint/2010/main" val="1250701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4</a:t>
            </a:fld>
            <a:endParaRPr lang="en-US"/>
          </a:p>
        </p:txBody>
      </p:sp>
    </p:spTree>
    <p:extLst>
      <p:ext uri="{BB962C8B-B14F-4D97-AF65-F5344CB8AC3E}">
        <p14:creationId xmlns:p14="http://schemas.microsoft.com/office/powerpoint/2010/main" val="1819537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5</a:t>
            </a:fld>
            <a:endParaRPr lang="en-US"/>
          </a:p>
        </p:txBody>
      </p:sp>
    </p:spTree>
    <p:extLst>
      <p:ext uri="{BB962C8B-B14F-4D97-AF65-F5344CB8AC3E}">
        <p14:creationId xmlns:p14="http://schemas.microsoft.com/office/powerpoint/2010/main" val="636447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6</a:t>
            </a:fld>
            <a:endParaRPr lang="en-US"/>
          </a:p>
        </p:txBody>
      </p:sp>
    </p:spTree>
    <p:extLst>
      <p:ext uri="{BB962C8B-B14F-4D97-AF65-F5344CB8AC3E}">
        <p14:creationId xmlns:p14="http://schemas.microsoft.com/office/powerpoint/2010/main" val="3071784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10</a:t>
            </a:fld>
            <a:endParaRPr lang="en-US"/>
          </a:p>
        </p:txBody>
      </p:sp>
    </p:spTree>
    <p:extLst>
      <p:ext uri="{BB962C8B-B14F-4D97-AF65-F5344CB8AC3E}">
        <p14:creationId xmlns:p14="http://schemas.microsoft.com/office/powerpoint/2010/main" val="2765564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13</a:t>
            </a:fld>
            <a:endParaRPr lang="en-US"/>
          </a:p>
        </p:txBody>
      </p:sp>
    </p:spTree>
    <p:extLst>
      <p:ext uri="{BB962C8B-B14F-4D97-AF65-F5344CB8AC3E}">
        <p14:creationId xmlns:p14="http://schemas.microsoft.com/office/powerpoint/2010/main" val="11233991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15</a:t>
            </a:fld>
            <a:endParaRPr lang="en-US"/>
          </a:p>
        </p:txBody>
      </p:sp>
    </p:spTree>
    <p:extLst>
      <p:ext uri="{BB962C8B-B14F-4D97-AF65-F5344CB8AC3E}">
        <p14:creationId xmlns:p14="http://schemas.microsoft.com/office/powerpoint/2010/main" val="3088723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16</a:t>
            </a:fld>
            <a:endParaRPr lang="en-US"/>
          </a:p>
        </p:txBody>
      </p:sp>
    </p:spTree>
    <p:extLst>
      <p:ext uri="{BB962C8B-B14F-4D97-AF65-F5344CB8AC3E}">
        <p14:creationId xmlns:p14="http://schemas.microsoft.com/office/powerpoint/2010/main" val="30288655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17</a:t>
            </a:fld>
            <a:endParaRPr lang="en-US"/>
          </a:p>
        </p:txBody>
      </p:sp>
    </p:spTree>
    <p:extLst>
      <p:ext uri="{BB962C8B-B14F-4D97-AF65-F5344CB8AC3E}">
        <p14:creationId xmlns:p14="http://schemas.microsoft.com/office/powerpoint/2010/main" val="30253125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22</a:t>
            </a:fld>
            <a:endParaRPr lang="en-US"/>
          </a:p>
        </p:txBody>
      </p:sp>
    </p:spTree>
    <p:extLst>
      <p:ext uri="{BB962C8B-B14F-4D97-AF65-F5344CB8AC3E}">
        <p14:creationId xmlns:p14="http://schemas.microsoft.com/office/powerpoint/2010/main" val="2676084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cholar">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B278F43A-FB5C-B2EB-F9DE-AF246B9BCDD1}"/>
              </a:ext>
            </a:extLst>
          </p:cNvPr>
          <p:cNvSpPr>
            <a:spLocks noGrp="1"/>
          </p:cNvSpPr>
          <p:nvPr>
            <p:ph type="pic" sz="quarter" idx="10"/>
          </p:nvPr>
        </p:nvSpPr>
        <p:spPr>
          <a:xfrm>
            <a:off x="6223062" y="1376475"/>
            <a:ext cx="4742246" cy="456210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3" name="Title 2">
            <a:extLst>
              <a:ext uri="{FF2B5EF4-FFF2-40B4-BE49-F238E27FC236}">
                <a16:creationId xmlns:a16="http://schemas.microsoft.com/office/drawing/2014/main" id="{A2DAEE64-3165-EBF4-F20C-C39BD64C259C}"/>
              </a:ext>
            </a:extLst>
          </p:cNvPr>
          <p:cNvSpPr>
            <a:spLocks noGrp="1"/>
          </p:cNvSpPr>
          <p:nvPr>
            <p:ph type="title"/>
          </p:nvPr>
        </p:nvSpPr>
        <p:spPr>
          <a:xfrm>
            <a:off x="652564" y="1549891"/>
            <a:ext cx="4341467" cy="978729"/>
          </a:xfrm>
        </p:spPr>
        <p:txBody>
          <a:bodyPr>
            <a:spAutoFit/>
          </a:bodyPr>
          <a:lstStyle>
            <a:lvl1pPr>
              <a:defRPr sz="3200"/>
            </a:lvl1pPr>
          </a:lstStyle>
          <a:p>
            <a:r>
              <a:rPr lang="en-US" dirty="0"/>
              <a:t>Click to edit Master title style</a:t>
            </a:r>
            <a:endParaRPr lang="en-EG" dirty="0"/>
          </a:p>
        </p:txBody>
      </p:sp>
    </p:spTree>
    <p:extLst>
      <p:ext uri="{BB962C8B-B14F-4D97-AF65-F5344CB8AC3E}">
        <p14:creationId xmlns:p14="http://schemas.microsoft.com/office/powerpoint/2010/main" val="23049793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F3CE44F-0AC8-95A4-A0BE-37EFA2F155A1}"/>
              </a:ext>
            </a:extLst>
          </p:cNvPr>
          <p:cNvSpPr>
            <a:spLocks noGrp="1"/>
          </p:cNvSpPr>
          <p:nvPr>
            <p:ph type="body" sz="quarter" idx="10"/>
          </p:nvPr>
        </p:nvSpPr>
        <p:spPr>
          <a:xfrm>
            <a:off x="652564" y="2192401"/>
            <a:ext cx="8893175" cy="3266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itle 1">
            <a:extLst>
              <a:ext uri="{FF2B5EF4-FFF2-40B4-BE49-F238E27FC236}">
                <a16:creationId xmlns:a16="http://schemas.microsoft.com/office/drawing/2014/main" id="{A75548F9-F8BC-EFDB-C687-8D0C5A936249}"/>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397146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324865" y="1495168"/>
            <a:ext cx="7692964" cy="4282634"/>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32FF78D9-C1A2-526F-6420-B3D76D0BD573}"/>
              </a:ext>
            </a:extLst>
          </p:cNvPr>
          <p:cNvSpPr>
            <a:spLocks noGrp="1"/>
          </p:cNvSpPr>
          <p:nvPr>
            <p:ph type="title"/>
          </p:nvPr>
        </p:nvSpPr>
        <p:spPr>
          <a:xfrm>
            <a:off x="652564" y="1495168"/>
            <a:ext cx="3405071"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5394619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0" y="2376163"/>
            <a:ext cx="12192000" cy="3428999"/>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C9820320-FD11-BAF5-37F4-CF304DE64D4A}"/>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16844756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390699" y="1556951"/>
            <a:ext cx="2875271" cy="424135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5" name="Picture Placeholder 2">
            <a:extLst>
              <a:ext uri="{FF2B5EF4-FFF2-40B4-BE49-F238E27FC236}">
                <a16:creationId xmlns:a16="http://schemas.microsoft.com/office/drawing/2014/main" id="{3ABAD49B-FDB5-F77F-A443-0E3F5E715655}"/>
              </a:ext>
            </a:extLst>
          </p:cNvPr>
          <p:cNvSpPr>
            <a:spLocks noGrp="1"/>
          </p:cNvSpPr>
          <p:nvPr>
            <p:ph type="pic" sz="quarter" idx="11"/>
          </p:nvPr>
        </p:nvSpPr>
        <p:spPr>
          <a:xfrm>
            <a:off x="8469319" y="1546501"/>
            <a:ext cx="2875271" cy="424135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8" name="Text Placeholder 7">
            <a:extLst>
              <a:ext uri="{FF2B5EF4-FFF2-40B4-BE49-F238E27FC236}">
                <a16:creationId xmlns:a16="http://schemas.microsoft.com/office/drawing/2014/main" id="{88366EAC-19C8-6C5F-048D-4DC4B555FC08}"/>
              </a:ext>
            </a:extLst>
          </p:cNvPr>
          <p:cNvSpPr>
            <a:spLocks noGrp="1"/>
          </p:cNvSpPr>
          <p:nvPr>
            <p:ph type="body" sz="quarter" idx="12"/>
          </p:nvPr>
        </p:nvSpPr>
        <p:spPr>
          <a:xfrm>
            <a:off x="462068" y="1316734"/>
            <a:ext cx="4074856" cy="198310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Tree>
    <p:extLst>
      <p:ext uri="{BB962C8B-B14F-4D97-AF65-F5344CB8AC3E}">
        <p14:creationId xmlns:p14="http://schemas.microsoft.com/office/powerpoint/2010/main" val="25563244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Scholar">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7B0C6339-CA41-2A13-E31E-C9B624A24951}"/>
              </a:ext>
            </a:extLst>
          </p:cNvPr>
          <p:cNvSpPr>
            <a:spLocks noGrp="1"/>
          </p:cNvSpPr>
          <p:nvPr>
            <p:ph type="pic" sz="quarter" idx="10"/>
          </p:nvPr>
        </p:nvSpPr>
        <p:spPr>
          <a:xfrm>
            <a:off x="838198" y="2444345"/>
            <a:ext cx="3294042" cy="294174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6" name="Picture Placeholder 2">
            <a:extLst>
              <a:ext uri="{FF2B5EF4-FFF2-40B4-BE49-F238E27FC236}">
                <a16:creationId xmlns:a16="http://schemas.microsoft.com/office/drawing/2014/main" id="{71EF183C-CE0C-2B93-D215-252B683E9483}"/>
              </a:ext>
            </a:extLst>
          </p:cNvPr>
          <p:cNvSpPr>
            <a:spLocks noGrp="1"/>
          </p:cNvSpPr>
          <p:nvPr>
            <p:ph type="pic" sz="quarter" idx="11"/>
          </p:nvPr>
        </p:nvSpPr>
        <p:spPr>
          <a:xfrm>
            <a:off x="7718112" y="1645630"/>
            <a:ext cx="3294042" cy="438355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3" name="Title 1">
            <a:extLst>
              <a:ext uri="{FF2B5EF4-FFF2-40B4-BE49-F238E27FC236}">
                <a16:creationId xmlns:a16="http://schemas.microsoft.com/office/drawing/2014/main" id="{F9818556-CB74-61E7-75FD-256A243154F6}"/>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43553759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277395" y="2561353"/>
            <a:ext cx="3254625" cy="210768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5" name="Picture Placeholder 2">
            <a:extLst>
              <a:ext uri="{FF2B5EF4-FFF2-40B4-BE49-F238E27FC236}">
                <a16:creationId xmlns:a16="http://schemas.microsoft.com/office/drawing/2014/main" id="{89F59937-5E08-66DF-EBE6-71F9DF9C98C7}"/>
              </a:ext>
            </a:extLst>
          </p:cNvPr>
          <p:cNvSpPr>
            <a:spLocks noGrp="1"/>
          </p:cNvSpPr>
          <p:nvPr>
            <p:ph type="pic" sz="quarter" idx="11"/>
          </p:nvPr>
        </p:nvSpPr>
        <p:spPr>
          <a:xfrm>
            <a:off x="6700171" y="2561353"/>
            <a:ext cx="3254625" cy="210768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93B3B78D-483A-DCE1-6079-3B46A85518EB}"/>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009919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074056" y="2231136"/>
            <a:ext cx="3254626" cy="3255264"/>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B39FEAE8-5AF9-03B3-0844-DDBF6CB135A3}"/>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3393111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891731" y="1426865"/>
            <a:ext cx="5869214" cy="294390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779BD62F-0B76-88A2-E29D-59829B77CDB6}"/>
              </a:ext>
            </a:extLst>
          </p:cNvPr>
          <p:cNvSpPr>
            <a:spLocks noGrp="1"/>
          </p:cNvSpPr>
          <p:nvPr>
            <p:ph type="title"/>
          </p:nvPr>
        </p:nvSpPr>
        <p:spPr>
          <a:xfrm>
            <a:off x="662612" y="1600282"/>
            <a:ext cx="3929484"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0126698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225143" y="1589524"/>
            <a:ext cx="6966857" cy="424736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9FF799DE-AC33-6FB4-AA25-AEF9862EAB76}"/>
              </a:ext>
            </a:extLst>
          </p:cNvPr>
          <p:cNvSpPr>
            <a:spLocks noGrp="1"/>
          </p:cNvSpPr>
          <p:nvPr>
            <p:ph type="title"/>
          </p:nvPr>
        </p:nvSpPr>
        <p:spPr>
          <a:xfrm>
            <a:off x="662612" y="1589524"/>
            <a:ext cx="3658179"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1276841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40712" y="1320323"/>
            <a:ext cx="4204740" cy="498278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12D27499-F706-FAB7-D036-ED85BD77031E}"/>
              </a:ext>
            </a:extLst>
          </p:cNvPr>
          <p:cNvSpPr>
            <a:spLocks noGrp="1"/>
          </p:cNvSpPr>
          <p:nvPr>
            <p:ph type="title"/>
          </p:nvPr>
        </p:nvSpPr>
        <p:spPr>
          <a:xfrm>
            <a:off x="4933162" y="1320323"/>
            <a:ext cx="3839049"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402045292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838199" y="3285120"/>
            <a:ext cx="5043461" cy="2555623"/>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5" name="Picture Placeholder 2">
            <a:extLst>
              <a:ext uri="{FF2B5EF4-FFF2-40B4-BE49-F238E27FC236}">
                <a16:creationId xmlns:a16="http://schemas.microsoft.com/office/drawing/2014/main" id="{085313B9-1E3D-25CD-C016-3DA6D7EFD115}"/>
              </a:ext>
            </a:extLst>
          </p:cNvPr>
          <p:cNvSpPr>
            <a:spLocks noGrp="1"/>
          </p:cNvSpPr>
          <p:nvPr>
            <p:ph type="pic" sz="quarter" idx="11"/>
          </p:nvPr>
        </p:nvSpPr>
        <p:spPr>
          <a:xfrm>
            <a:off x="6310341" y="1557495"/>
            <a:ext cx="5294667" cy="284235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F4CE7931-72DD-ACE7-A685-6ECE67AAB20B}"/>
              </a:ext>
            </a:extLst>
          </p:cNvPr>
          <p:cNvSpPr>
            <a:spLocks noGrp="1"/>
          </p:cNvSpPr>
          <p:nvPr>
            <p:ph type="title"/>
          </p:nvPr>
        </p:nvSpPr>
        <p:spPr>
          <a:xfrm>
            <a:off x="726705" y="1313548"/>
            <a:ext cx="4441950"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52397483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037469" y="2459715"/>
            <a:ext cx="4783157" cy="339408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6721E2BF-599D-B1F9-D6E8-5DCA4FF2BEA1}"/>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77915200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381455" y="1552454"/>
            <a:ext cx="5613400" cy="4247361"/>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10AE96D8-BF7F-6004-FB2D-866215855BFD}"/>
              </a:ext>
            </a:extLst>
          </p:cNvPr>
          <p:cNvSpPr>
            <a:spLocks noGrp="1"/>
          </p:cNvSpPr>
          <p:nvPr>
            <p:ph type="title"/>
          </p:nvPr>
        </p:nvSpPr>
        <p:spPr>
          <a:xfrm>
            <a:off x="612371" y="3026520"/>
            <a:ext cx="4009871"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39274872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077973" y="2975832"/>
            <a:ext cx="8036051" cy="290684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FE2D82A6-9BE4-1B56-B81C-E40D68A6C50F}"/>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92535640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699721" y="1373448"/>
            <a:ext cx="3484625" cy="432396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5" name="Picture Placeholder 2">
            <a:extLst>
              <a:ext uri="{FF2B5EF4-FFF2-40B4-BE49-F238E27FC236}">
                <a16:creationId xmlns:a16="http://schemas.microsoft.com/office/drawing/2014/main" id="{CD8A88D9-93EB-19DF-C0DB-7F020B3F077C}"/>
              </a:ext>
            </a:extLst>
          </p:cNvPr>
          <p:cNvSpPr>
            <a:spLocks noGrp="1"/>
          </p:cNvSpPr>
          <p:nvPr>
            <p:ph type="pic" sz="quarter" idx="11"/>
          </p:nvPr>
        </p:nvSpPr>
        <p:spPr>
          <a:xfrm>
            <a:off x="8357323" y="1373448"/>
            <a:ext cx="2970520" cy="432396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C4CBFA21-027C-9D7E-86C4-6A892D554468}"/>
              </a:ext>
            </a:extLst>
          </p:cNvPr>
          <p:cNvSpPr>
            <a:spLocks noGrp="1"/>
          </p:cNvSpPr>
          <p:nvPr>
            <p:ph type="title"/>
          </p:nvPr>
        </p:nvSpPr>
        <p:spPr>
          <a:xfrm>
            <a:off x="662612" y="3327970"/>
            <a:ext cx="3758662"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105321076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783530" y="2471257"/>
            <a:ext cx="4928616" cy="330905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5DD4F9BE-3AC0-19C2-9187-3FD8A481A5D7}"/>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25637508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Scholar">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2922483-4632-E171-2855-7D99A603FA58}"/>
              </a:ext>
            </a:extLst>
          </p:cNvPr>
          <p:cNvSpPr>
            <a:spLocks noGrp="1"/>
          </p:cNvSpPr>
          <p:nvPr>
            <p:ph type="body" sz="quarter" idx="10"/>
          </p:nvPr>
        </p:nvSpPr>
        <p:spPr>
          <a:xfrm>
            <a:off x="652564" y="2224603"/>
            <a:ext cx="10158413" cy="3467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itle 1">
            <a:extLst>
              <a:ext uri="{FF2B5EF4-FFF2-40B4-BE49-F238E27FC236}">
                <a16:creationId xmlns:a16="http://schemas.microsoft.com/office/drawing/2014/main" id="{006BE785-A8E6-66CF-A260-2DF94E4BC9FC}"/>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4220382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699125" y="1524612"/>
            <a:ext cx="5694218" cy="4420275"/>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7B521626-1B9C-F9E7-848F-8656655CFC70}"/>
              </a:ext>
            </a:extLst>
          </p:cNvPr>
          <p:cNvSpPr>
            <a:spLocks noGrp="1"/>
          </p:cNvSpPr>
          <p:nvPr>
            <p:ph type="title"/>
          </p:nvPr>
        </p:nvSpPr>
        <p:spPr>
          <a:xfrm>
            <a:off x="652564" y="1582794"/>
            <a:ext cx="3839049"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07499878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384629" y="2337059"/>
            <a:ext cx="4928616" cy="330905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A734112C-F87F-EA2E-4F5B-03A38B9386C1}"/>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7552228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0" y="1458097"/>
            <a:ext cx="3526971" cy="4738979"/>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41A2C1E3-120D-3FEC-1B77-2A36BF6D4B4D}"/>
              </a:ext>
            </a:extLst>
          </p:cNvPr>
          <p:cNvSpPr>
            <a:spLocks noGrp="1"/>
          </p:cNvSpPr>
          <p:nvPr>
            <p:ph type="title"/>
          </p:nvPr>
        </p:nvSpPr>
        <p:spPr>
          <a:xfrm>
            <a:off x="3626875" y="1553089"/>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60325017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151909" y="2339818"/>
            <a:ext cx="2909350" cy="342793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5" name="Picture Placeholder 2">
            <a:extLst>
              <a:ext uri="{FF2B5EF4-FFF2-40B4-BE49-F238E27FC236}">
                <a16:creationId xmlns:a16="http://schemas.microsoft.com/office/drawing/2014/main" id="{40B098B3-79E1-266E-BB89-C5D12EB23DCF}"/>
              </a:ext>
            </a:extLst>
          </p:cNvPr>
          <p:cNvSpPr>
            <a:spLocks noGrp="1"/>
          </p:cNvSpPr>
          <p:nvPr>
            <p:ph type="pic" sz="quarter" idx="11"/>
          </p:nvPr>
        </p:nvSpPr>
        <p:spPr>
          <a:xfrm>
            <a:off x="4259547" y="2339818"/>
            <a:ext cx="2909350" cy="342793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F740E445-A68C-4D36-E75A-60468A3FE3B2}"/>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168964386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749882" y="2773345"/>
            <a:ext cx="5169483" cy="300445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5" name="Picture Placeholder 2">
            <a:extLst>
              <a:ext uri="{FF2B5EF4-FFF2-40B4-BE49-F238E27FC236}">
                <a16:creationId xmlns:a16="http://schemas.microsoft.com/office/drawing/2014/main" id="{5B439235-1612-8175-756F-EC4690BF4E86}"/>
              </a:ext>
            </a:extLst>
          </p:cNvPr>
          <p:cNvSpPr>
            <a:spLocks noGrp="1"/>
          </p:cNvSpPr>
          <p:nvPr>
            <p:ph type="pic" sz="quarter" idx="11"/>
          </p:nvPr>
        </p:nvSpPr>
        <p:spPr>
          <a:xfrm>
            <a:off x="6096000" y="2773345"/>
            <a:ext cx="5169483" cy="300445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4" name="Title 1">
            <a:extLst>
              <a:ext uri="{FF2B5EF4-FFF2-40B4-BE49-F238E27FC236}">
                <a16:creationId xmlns:a16="http://schemas.microsoft.com/office/drawing/2014/main" id="{BF477963-0E68-6BE9-685A-14AC4960EB83}"/>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404032451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864259" y="1470454"/>
            <a:ext cx="4463683" cy="439990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377E7F65-8C2A-99A3-29F7-AB052EE6CC56}"/>
              </a:ext>
            </a:extLst>
          </p:cNvPr>
          <p:cNvSpPr>
            <a:spLocks noGrp="1"/>
          </p:cNvSpPr>
          <p:nvPr>
            <p:ph type="title"/>
          </p:nvPr>
        </p:nvSpPr>
        <p:spPr>
          <a:xfrm>
            <a:off x="5475772" y="1580088"/>
            <a:ext cx="4602724" cy="978729"/>
          </a:xfrm>
        </p:spPr>
        <p:txBody>
          <a:bodyPr>
            <a:spAutoFit/>
          </a:bodyPr>
          <a:lstStyle>
            <a:lvl1pPr>
              <a:defRPr sz="3200"/>
            </a:lvl1pPr>
          </a:lstStyle>
          <a:p>
            <a:r>
              <a:rPr lang="en-US" dirty="0"/>
              <a:t>Click to edit Master title style</a:t>
            </a:r>
            <a:endParaRPr lang="en-EG" dirty="0"/>
          </a:p>
        </p:txBody>
      </p:sp>
    </p:spTree>
    <p:extLst>
      <p:ext uri="{BB962C8B-B14F-4D97-AF65-F5344CB8AC3E}">
        <p14:creationId xmlns:p14="http://schemas.microsoft.com/office/powerpoint/2010/main" val="300821401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190990" y="2318009"/>
            <a:ext cx="3461119" cy="346111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BA45EB47-DFC0-2E76-0595-02B2E45465CB}"/>
              </a:ext>
            </a:extLst>
          </p:cNvPr>
          <p:cNvSpPr>
            <a:spLocks noGrp="1"/>
          </p:cNvSpPr>
          <p:nvPr>
            <p:ph type="title"/>
          </p:nvPr>
        </p:nvSpPr>
        <p:spPr/>
        <p:txBody>
          <a:bodyPr>
            <a:norm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74046455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656750" y="2200589"/>
            <a:ext cx="3461118" cy="3873499"/>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8221F8B9-D5FB-9194-E851-27D411D78D36}"/>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84661346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430723" y="1507524"/>
            <a:ext cx="3154531" cy="433056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6" name="Picture Placeholder 2">
            <a:extLst>
              <a:ext uri="{FF2B5EF4-FFF2-40B4-BE49-F238E27FC236}">
                <a16:creationId xmlns:a16="http://schemas.microsoft.com/office/drawing/2014/main" id="{FDA4CFAE-E2E2-884F-70F5-32FCCDCD7A20}"/>
              </a:ext>
            </a:extLst>
          </p:cNvPr>
          <p:cNvSpPr>
            <a:spLocks noGrp="1"/>
          </p:cNvSpPr>
          <p:nvPr>
            <p:ph type="pic" sz="quarter" idx="11"/>
          </p:nvPr>
        </p:nvSpPr>
        <p:spPr>
          <a:xfrm>
            <a:off x="5822136" y="1507524"/>
            <a:ext cx="3154532" cy="433056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dirty="0"/>
              <a:t>Click icon to add picture</a:t>
            </a:r>
          </a:p>
        </p:txBody>
      </p:sp>
      <p:sp>
        <p:nvSpPr>
          <p:cNvPr id="2" name="Title 1">
            <a:extLst>
              <a:ext uri="{FF2B5EF4-FFF2-40B4-BE49-F238E27FC236}">
                <a16:creationId xmlns:a16="http://schemas.microsoft.com/office/drawing/2014/main" id="{9BAEDBEE-D77F-11A7-DCDC-8738B648E5E6}"/>
              </a:ext>
            </a:extLst>
          </p:cNvPr>
          <p:cNvSpPr>
            <a:spLocks noGrp="1"/>
          </p:cNvSpPr>
          <p:nvPr>
            <p:ph type="title"/>
          </p:nvPr>
        </p:nvSpPr>
        <p:spPr>
          <a:xfrm>
            <a:off x="270726" y="3211081"/>
            <a:ext cx="2159997" cy="1255728"/>
          </a:xfrm>
        </p:spPr>
        <p:txBody>
          <a:bodyPr>
            <a:spAutoFit/>
          </a:bodyPr>
          <a:lstStyle>
            <a:lvl1pPr>
              <a:defRPr sz="2800"/>
            </a:lvl1pPr>
          </a:lstStyle>
          <a:p>
            <a:r>
              <a:rPr lang="en-US" dirty="0"/>
              <a:t>Click to edit Master title style</a:t>
            </a:r>
            <a:endParaRPr lang="en-EG" dirty="0"/>
          </a:p>
        </p:txBody>
      </p:sp>
    </p:spTree>
    <p:extLst>
      <p:ext uri="{BB962C8B-B14F-4D97-AF65-F5344CB8AC3E}">
        <p14:creationId xmlns:p14="http://schemas.microsoft.com/office/powerpoint/2010/main" val="50006905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15DC9D-6410-4FCE-22DB-5A4A3E96802F}"/>
              </a:ext>
            </a:extLst>
          </p:cNvPr>
          <p:cNvPicPr/>
          <p:nvPr userDrawn="1"/>
        </p:nvPicPr>
        <p:blipFill>
          <a:blip r:embed="rId29">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7" name="Rectangle 6">
            <a:extLst>
              <a:ext uri="{FF2B5EF4-FFF2-40B4-BE49-F238E27FC236}">
                <a16:creationId xmlns:a16="http://schemas.microsoft.com/office/drawing/2014/main" id="{49263767-B6AA-FEF6-295D-20D68A167F80}"/>
              </a:ext>
            </a:extLst>
          </p:cNvPr>
          <p:cNvSpPr/>
          <p:nvPr userDrawn="1"/>
        </p:nvSpPr>
        <p:spPr>
          <a:xfrm>
            <a:off x="884503" y="6172205"/>
            <a:ext cx="685800" cy="685800"/>
          </a:xfrm>
          <a:prstGeom prst="rect">
            <a:avLst/>
          </a:prstGeom>
          <a:solidFill>
            <a:schemeClr val="accent1"/>
          </a:solidFill>
          <a:ln w="25400" cap="rnd">
            <a:no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260E2A6B-A809-4840-BF14-8648BC0BDF87}" type="slidenum">
              <a:rPr lang="id-ID" sz="1300" b="1" smtClean="0">
                <a:solidFill>
                  <a:schemeClr val="bg2"/>
                </a:solidFill>
                <a:latin typeface="Arial Black" panose="020B0A04020102020204" pitchFamily="34" charset="0"/>
                <a:ea typeface="Segoe UI Black" panose="020B0A02040204020203" pitchFamily="34" charset="0"/>
                <a:cs typeface="Arial" panose="020B0604020202020204" pitchFamily="34" charset="0"/>
              </a:rPr>
              <a:pPr algn="ctr"/>
              <a:t>‹#›</a:t>
            </a:fld>
            <a:endParaRPr lang="en-US" sz="1300" b="1" dirty="0">
              <a:solidFill>
                <a:schemeClr val="bg2"/>
              </a:solidFill>
              <a:latin typeface="Arial Black" panose="020B0A04020102020204" pitchFamily="34" charset="0"/>
              <a:ea typeface="Segoe UI Black" panose="020B0A02040204020203" pitchFamily="34" charset="0"/>
              <a:cs typeface="Arial" panose="020B0604020202020204" pitchFamily="34" charset="0"/>
            </a:endParaRPr>
          </a:p>
        </p:txBody>
      </p:sp>
      <p:sp>
        <p:nvSpPr>
          <p:cNvPr id="8" name="Rectangle 7">
            <a:extLst>
              <a:ext uri="{FF2B5EF4-FFF2-40B4-BE49-F238E27FC236}">
                <a16:creationId xmlns:a16="http://schemas.microsoft.com/office/drawing/2014/main" id="{71DAD369-F2D1-9F1E-1936-EEF937EF9009}"/>
              </a:ext>
            </a:extLst>
          </p:cNvPr>
          <p:cNvSpPr/>
          <p:nvPr userDrawn="1"/>
        </p:nvSpPr>
        <p:spPr>
          <a:xfrm>
            <a:off x="9800473" y="6403136"/>
            <a:ext cx="1629527" cy="411478"/>
          </a:xfrm>
          <a:prstGeom prst="rect">
            <a:avLst/>
          </a:prstGeom>
          <a:noFill/>
          <a:ln w="25400" cap="rnd">
            <a:no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2"/>
                </a:solidFill>
                <a:latin typeface="Arial Black" panose="020B0A04020102020204" pitchFamily="34" charset="0"/>
                <a:ea typeface="Segoe UI Black" panose="020B0A02040204020203" pitchFamily="34" charset="0"/>
                <a:cs typeface="Arial" panose="020B0604020202020204" pitchFamily="34" charset="0"/>
              </a:rPr>
              <a:t>Copyright @ 2026 NTI </a:t>
            </a:r>
            <a:endParaRPr lang="en-US" sz="1000" dirty="0">
              <a:solidFill>
                <a:schemeClr val="tx2"/>
              </a:solidFill>
              <a:latin typeface="Arial Black" panose="020B0A04020102020204" pitchFamily="34" charset="0"/>
              <a:ea typeface="Segoe UI Black" panose="020B0A02040204020203" pitchFamily="34" charset="0"/>
              <a:cs typeface="Arial" panose="020B0604020202020204" pitchFamily="34" charset="0"/>
            </a:endParaRPr>
          </a:p>
        </p:txBody>
      </p:sp>
      <p:sp>
        <p:nvSpPr>
          <p:cNvPr id="10" name="Title Placeholder 9">
            <a:extLst>
              <a:ext uri="{FF2B5EF4-FFF2-40B4-BE49-F238E27FC236}">
                <a16:creationId xmlns:a16="http://schemas.microsoft.com/office/drawing/2014/main" id="{B3B6FB33-A672-9B82-41E4-0AC900F93F9A}"/>
              </a:ext>
            </a:extLst>
          </p:cNvPr>
          <p:cNvSpPr>
            <a:spLocks noGrp="1"/>
          </p:cNvSpPr>
          <p:nvPr>
            <p:ph type="title"/>
          </p:nvPr>
        </p:nvSpPr>
        <p:spPr>
          <a:xfrm>
            <a:off x="652564" y="1393067"/>
            <a:ext cx="10515600" cy="547842"/>
          </a:xfrm>
          <a:prstGeom prst="rect">
            <a:avLst/>
          </a:prstGeom>
        </p:spPr>
        <p:txBody>
          <a:bodyPr vert="horz" lIns="91440" tIns="45720" rIns="91440" bIns="45720" rtlCol="0" anchor="ctr">
            <a:spAutoFit/>
          </a:bodyPr>
          <a:lstStyle/>
          <a:p>
            <a:r>
              <a:rPr lang="en-US" dirty="0"/>
              <a:t>Click to edit Master title style</a:t>
            </a:r>
            <a:endParaRPr lang="en-EG" dirty="0"/>
          </a:p>
        </p:txBody>
      </p:sp>
      <p:sp>
        <p:nvSpPr>
          <p:cNvPr id="12" name="Text Placeholder 11">
            <a:extLst>
              <a:ext uri="{FF2B5EF4-FFF2-40B4-BE49-F238E27FC236}">
                <a16:creationId xmlns:a16="http://schemas.microsoft.com/office/drawing/2014/main" id="{6E7308B9-242D-32FB-28B8-815AFC14B8F9}"/>
              </a:ext>
            </a:extLst>
          </p:cNvPr>
          <p:cNvSpPr>
            <a:spLocks noGrp="1"/>
          </p:cNvSpPr>
          <p:nvPr>
            <p:ph type="body" idx="1"/>
          </p:nvPr>
        </p:nvSpPr>
        <p:spPr>
          <a:xfrm>
            <a:off x="652564" y="2008412"/>
            <a:ext cx="10515600" cy="373924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EG" dirty="0"/>
          </a:p>
        </p:txBody>
      </p:sp>
      <p:pic>
        <p:nvPicPr>
          <p:cNvPr id="11" name="Picture 10">
            <a:extLst>
              <a:ext uri="{FF2B5EF4-FFF2-40B4-BE49-F238E27FC236}">
                <a16:creationId xmlns:a16="http://schemas.microsoft.com/office/drawing/2014/main" id="{CF484B76-34FB-C4DC-593D-8783A64B409D}"/>
              </a:ext>
            </a:extLst>
          </p:cNvPr>
          <p:cNvPicPr>
            <a:picLocks noChangeAspect="1"/>
          </p:cNvPicPr>
          <p:nvPr userDrawn="1"/>
        </p:nvPicPr>
        <p:blipFill>
          <a:blip r:embed="rId30"/>
          <a:stretch>
            <a:fillRect/>
          </a:stretch>
        </p:blipFill>
        <p:spPr>
          <a:xfrm>
            <a:off x="633075" y="184578"/>
            <a:ext cx="1768481" cy="877671"/>
          </a:xfrm>
          <a:prstGeom prst="rect">
            <a:avLst/>
          </a:prstGeom>
        </p:spPr>
      </p:pic>
      <p:pic>
        <p:nvPicPr>
          <p:cNvPr id="14" name="Picture 13">
            <a:extLst>
              <a:ext uri="{FF2B5EF4-FFF2-40B4-BE49-F238E27FC236}">
                <a16:creationId xmlns:a16="http://schemas.microsoft.com/office/drawing/2014/main" id="{4CFDA9D8-55BC-8A23-77AE-11215C839C67}"/>
              </a:ext>
            </a:extLst>
          </p:cNvPr>
          <p:cNvPicPr>
            <a:picLocks noChangeAspect="1"/>
          </p:cNvPicPr>
          <p:nvPr userDrawn="1"/>
        </p:nvPicPr>
        <p:blipFill>
          <a:blip r:embed="rId31"/>
          <a:stretch>
            <a:fillRect/>
          </a:stretch>
        </p:blipFill>
        <p:spPr>
          <a:xfrm>
            <a:off x="9549800" y="257729"/>
            <a:ext cx="1513435" cy="731367"/>
          </a:xfrm>
          <a:prstGeom prst="rect">
            <a:avLst/>
          </a:prstGeom>
        </p:spPr>
      </p:pic>
    </p:spTree>
    <p:extLst>
      <p:ext uri="{BB962C8B-B14F-4D97-AF65-F5344CB8AC3E}">
        <p14:creationId xmlns:p14="http://schemas.microsoft.com/office/powerpoint/2010/main" val="3545998360"/>
      </p:ext>
    </p:extLst>
  </p:cSld>
  <p:clrMap bg1="lt1" tx1="dk1" bg2="lt2" tx2="dk2" accent1="accent1" accent2="accent2" accent3="accent3" accent4="accent4" accent5="accent5" accent6="accent6" hlink="hlink" folHlink="folHlink"/>
  <p:sldLayoutIdLst>
    <p:sldLayoutId id="2147483656" r:id="rId1"/>
    <p:sldLayoutId id="2147483655"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Lst>
  <p:txStyles>
    <p:titleStyle>
      <a:lvl1pPr algn="l" defTabSz="914400" rtl="0" eaLnBrk="1" latinLnBrk="0" hangingPunct="1">
        <a:lnSpc>
          <a:spcPct val="90000"/>
        </a:lnSpc>
        <a:spcBef>
          <a:spcPct val="0"/>
        </a:spcBef>
        <a:buNone/>
        <a:defRPr sz="3200" b="1" i="0" kern="1200">
          <a:solidFill>
            <a:schemeClr val="tx1">
              <a:lumMod val="85000"/>
              <a:lumOff val="15000"/>
            </a:schemeClr>
          </a:solidFill>
          <a:latin typeface="Arial Black" panose="020B0A04020102020204" pitchFamily="34" charset="0"/>
          <a:ea typeface="+mj-ea"/>
          <a:cs typeface="Arial Black" panose="020B0A040201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Arial Black" panose="020B0A04020102020204" pitchFamily="34" charset="0"/>
          <a:ea typeface="+mn-ea"/>
          <a:cs typeface="Arial Black" panose="020B0A040201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Black" panose="020B0A04020102020204" pitchFamily="34" charset="0"/>
          <a:ea typeface="+mn-ea"/>
          <a:cs typeface="Arial Black" panose="020B0A040201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Black" panose="020B0A04020102020204" pitchFamily="34" charset="0"/>
          <a:ea typeface="+mn-ea"/>
          <a:cs typeface="Arial Black" panose="020B0A040201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Black" panose="020B0A04020102020204" pitchFamily="34" charset="0"/>
          <a:ea typeface="+mn-ea"/>
          <a:cs typeface="Arial Black" panose="020B0A040201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Black" panose="020B0A04020102020204" pitchFamily="34" charset="0"/>
          <a:ea typeface="+mn-ea"/>
          <a:cs typeface="Arial Black" panose="020B0A040201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KirollosSameh096-sys" TargetMode="External"/><Relationship Id="rId2" Type="http://schemas.openxmlformats.org/officeDocument/2006/relationships/hyperlink" Target="https://www.linkedin.com/in/kirollos-sameh-12babb356?utm_source=share_via&amp;utm_content=profile&amp;utm_medium=member_android" TargetMode="External"/><Relationship Id="rId1" Type="http://schemas.openxmlformats.org/officeDocument/2006/relationships/slideLayout" Target="../slideLayouts/slideLayout3.xml"/><Relationship Id="rId6" Type="http://schemas.openxmlformats.org/officeDocument/2006/relationships/hyperlink" Target="https://github.com/waelwael754" TargetMode="External"/><Relationship Id="rId5" Type="http://schemas.openxmlformats.org/officeDocument/2006/relationships/hyperlink" Target="https://www.linkedin.com/in/wael-ayman-566a98373?utm_source=share_via&amp;utm_content=profile&amp;utm_medium=member_android" TargetMode="External"/><Relationship Id="rId4" Type="http://schemas.openxmlformats.org/officeDocument/2006/relationships/hyperlink" Target="https://www.linkedin.com/in/fares-hisham-a862a1375?utm_source=share_via&amp;utm_content=profile&amp;utm_medium=member_android"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8BB33DD-B563-558B-A025-FB92064EDF1D}"/>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11" name="TextBox 10">
            <a:extLst>
              <a:ext uri="{FF2B5EF4-FFF2-40B4-BE49-F238E27FC236}">
                <a16:creationId xmlns:a16="http://schemas.microsoft.com/office/drawing/2014/main" id="{9B09379A-6685-5A36-1A51-C194755EBC96}"/>
              </a:ext>
            </a:extLst>
          </p:cNvPr>
          <p:cNvSpPr txBox="1"/>
          <p:nvPr/>
        </p:nvSpPr>
        <p:spPr>
          <a:xfrm>
            <a:off x="760927" y="2762512"/>
            <a:ext cx="4701207" cy="2742289"/>
          </a:xfrm>
          <a:prstGeom prst="rect">
            <a:avLst/>
          </a:prstGeom>
        </p:spPr>
        <p:txBody>
          <a:bodyPr vert="horz" wrap="square" lIns="0" tIns="0" rIns="0" bIns="0" rtlCol="0" anchor="ctr">
            <a:spAutoFit/>
          </a:bodyPr>
          <a:lstStyle>
            <a:lvl1pPr algn="ctr">
              <a:lnSpc>
                <a:spcPct val="90000"/>
              </a:lnSpc>
              <a:spcBef>
                <a:spcPct val="0"/>
              </a:spcBef>
              <a:buNone/>
              <a:defRPr sz="5400">
                <a:solidFill>
                  <a:schemeClr val="tx2"/>
                </a:solidFill>
                <a:latin typeface="Inter ExtraBold" panose="02000503000000020004" pitchFamily="2" charset="0"/>
                <a:ea typeface="+mj-ea"/>
                <a:cs typeface="+mj-cs"/>
              </a:defRPr>
            </a:lvl1pPr>
          </a:lstStyle>
          <a:p>
            <a:pPr algn="l"/>
            <a:r>
              <a:rPr lang="en-US" sz="6600" b="1" dirty="0">
                <a:latin typeface="Arial Black" panose="020B0A04020102020204" pitchFamily="34" charset="0"/>
                <a:cs typeface="Arial" panose="020B0604020202020204" pitchFamily="34" charset="0"/>
              </a:rPr>
              <a:t>YouTube </a:t>
            </a:r>
          </a:p>
          <a:p>
            <a:pPr algn="l"/>
            <a:r>
              <a:rPr lang="en-US" sz="6600" b="1" dirty="0">
                <a:latin typeface="Arial Black" panose="020B0A04020102020204" pitchFamily="34" charset="0"/>
                <a:cs typeface="Arial" panose="020B0604020202020204" pitchFamily="34" charset="0"/>
              </a:rPr>
              <a:t>Data Analysis</a:t>
            </a:r>
          </a:p>
        </p:txBody>
      </p:sp>
      <p:pic>
        <p:nvPicPr>
          <p:cNvPr id="9" name="Picture 8">
            <a:extLst>
              <a:ext uri="{FF2B5EF4-FFF2-40B4-BE49-F238E27FC236}">
                <a16:creationId xmlns:a16="http://schemas.microsoft.com/office/drawing/2014/main" id="{ADAF8EEF-9065-C8BD-C95F-69F4F22214FF}"/>
              </a:ext>
            </a:extLst>
          </p:cNvPr>
          <p:cNvPicPr>
            <a:picLocks noChangeAspect="1"/>
          </p:cNvPicPr>
          <p:nvPr/>
        </p:nvPicPr>
        <p:blipFill>
          <a:blip r:embed="rId4"/>
          <a:stretch>
            <a:fillRect/>
          </a:stretch>
        </p:blipFill>
        <p:spPr>
          <a:xfrm>
            <a:off x="557338" y="1479222"/>
            <a:ext cx="1768481" cy="877671"/>
          </a:xfrm>
          <a:prstGeom prst="rect">
            <a:avLst/>
          </a:prstGeom>
        </p:spPr>
      </p:pic>
      <p:pic>
        <p:nvPicPr>
          <p:cNvPr id="10" name="Picture 9">
            <a:extLst>
              <a:ext uri="{FF2B5EF4-FFF2-40B4-BE49-F238E27FC236}">
                <a16:creationId xmlns:a16="http://schemas.microsoft.com/office/drawing/2014/main" id="{43325AA9-937B-9722-93B6-6A87406DAFA0}"/>
              </a:ext>
            </a:extLst>
          </p:cNvPr>
          <p:cNvPicPr>
            <a:picLocks noChangeAspect="1"/>
          </p:cNvPicPr>
          <p:nvPr/>
        </p:nvPicPr>
        <p:blipFill>
          <a:blip r:embed="rId5"/>
          <a:stretch>
            <a:fillRect/>
          </a:stretch>
        </p:blipFill>
        <p:spPr>
          <a:xfrm>
            <a:off x="3678223" y="1518922"/>
            <a:ext cx="1513435" cy="731367"/>
          </a:xfrm>
          <a:prstGeom prst="rect">
            <a:avLst/>
          </a:prstGeom>
        </p:spPr>
      </p:pic>
      <p:pic>
        <p:nvPicPr>
          <p:cNvPr id="1026" name="Picture 2" descr="image.png">
            <a:extLst>
              <a:ext uri="{FF2B5EF4-FFF2-40B4-BE49-F238E27FC236}">
                <a16:creationId xmlns:a16="http://schemas.microsoft.com/office/drawing/2014/main" id="{88BF35A4-5349-4D04-B751-C3495C3219CE}"/>
              </a:ext>
            </a:extLst>
          </p:cNvPr>
          <p:cNvPicPr>
            <a:picLocks noGrp="1" noChangeAspect="1" noChangeArrowheads="1"/>
          </p:cNvPicPr>
          <p:nvPr>
            <p:ph type="pic" sz="quarter" idx="10"/>
          </p:nvPr>
        </p:nvPicPr>
        <p:blipFill>
          <a:blip r:embed="rId6">
            <a:extLst>
              <a:ext uri="{28A0092B-C50C-407E-A947-70E740481C1C}">
                <a14:useLocalDpi xmlns:a14="http://schemas.microsoft.com/office/drawing/2010/main" val="0"/>
              </a:ext>
            </a:extLst>
          </a:blip>
          <a:srcRect l="17958" r="17958"/>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835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DB9FF5-B673-C4F6-970E-78EDEC53BA31}"/>
              </a:ext>
            </a:extLst>
          </p:cNvPr>
          <p:cNvSpPr>
            <a:spLocks noGrp="1"/>
          </p:cNvSpPr>
          <p:nvPr>
            <p:ph type="title"/>
          </p:nvPr>
        </p:nvSpPr>
        <p:spPr>
          <a:xfrm>
            <a:off x="2088919" y="1460149"/>
            <a:ext cx="7551938" cy="535531"/>
          </a:xfrm>
        </p:spPr>
        <p:txBody>
          <a:bodyPr/>
          <a:lstStyle/>
          <a:p>
            <a:pPr algn="ctr"/>
            <a:r>
              <a:rPr lang="en-US" dirty="0">
                <a:latin typeface="Arial" panose="020B0604020202020204" pitchFamily="34" charset="0"/>
                <a:cs typeface="Segoe UI Semibold" panose="020B0702040204020203" pitchFamily="34" charset="0"/>
              </a:rPr>
              <a:t>The Team</a:t>
            </a:r>
            <a:endParaRPr lang="en-EG" dirty="0">
              <a:latin typeface="Arial" panose="020B0604020202020204" pitchFamily="34" charset="0"/>
              <a:cs typeface="Segoe UI Semibold" panose="020B0702040204020203" pitchFamily="34" charset="0"/>
            </a:endParaRPr>
          </a:p>
        </p:txBody>
      </p:sp>
      <p:graphicFrame>
        <p:nvGraphicFramePr>
          <p:cNvPr id="6" name="Table 5">
            <a:extLst>
              <a:ext uri="{FF2B5EF4-FFF2-40B4-BE49-F238E27FC236}">
                <a16:creationId xmlns:a16="http://schemas.microsoft.com/office/drawing/2014/main" id="{5CC6E908-FBAD-4DEF-A7C0-50A65C0FA1C1}"/>
              </a:ext>
            </a:extLst>
          </p:cNvPr>
          <p:cNvGraphicFramePr>
            <a:graphicFrameLocks noGrp="1"/>
          </p:cNvGraphicFramePr>
          <p:nvPr>
            <p:extLst>
              <p:ext uri="{D42A27DB-BD31-4B8C-83A1-F6EECF244321}">
                <p14:modId xmlns:p14="http://schemas.microsoft.com/office/powerpoint/2010/main" val="2733543147"/>
              </p:ext>
            </p:extLst>
          </p:nvPr>
        </p:nvGraphicFramePr>
        <p:xfrm>
          <a:off x="899160" y="2207998"/>
          <a:ext cx="10652760" cy="3461284"/>
        </p:xfrm>
        <a:graphic>
          <a:graphicData uri="http://schemas.openxmlformats.org/drawingml/2006/table">
            <a:tbl>
              <a:tblPr firstRow="1" bandRow="1">
                <a:tableStyleId>{5C22544A-7EE6-4342-B048-85BDC9FD1C3A}</a:tableStyleId>
              </a:tblPr>
              <a:tblGrid>
                <a:gridCol w="3550920">
                  <a:extLst>
                    <a:ext uri="{9D8B030D-6E8A-4147-A177-3AD203B41FA5}">
                      <a16:colId xmlns:a16="http://schemas.microsoft.com/office/drawing/2014/main" val="3696528749"/>
                    </a:ext>
                  </a:extLst>
                </a:gridCol>
                <a:gridCol w="3550920">
                  <a:extLst>
                    <a:ext uri="{9D8B030D-6E8A-4147-A177-3AD203B41FA5}">
                      <a16:colId xmlns:a16="http://schemas.microsoft.com/office/drawing/2014/main" val="579548356"/>
                    </a:ext>
                  </a:extLst>
                </a:gridCol>
                <a:gridCol w="3550920">
                  <a:extLst>
                    <a:ext uri="{9D8B030D-6E8A-4147-A177-3AD203B41FA5}">
                      <a16:colId xmlns:a16="http://schemas.microsoft.com/office/drawing/2014/main" val="1167888932"/>
                    </a:ext>
                  </a:extLst>
                </a:gridCol>
              </a:tblGrid>
              <a:tr h="865321">
                <a:tc>
                  <a:txBody>
                    <a:bodyPr/>
                    <a:lstStyle/>
                    <a:p>
                      <a:r>
                        <a:rPr lang="en-US" dirty="0">
                          <a:latin typeface="Arial" panose="020B0604020202020204" pitchFamily="34" charset="0"/>
                        </a:rPr>
                        <a:t>Name</a:t>
                      </a:r>
                      <a:endParaRPr lang="en-US" dirty="0"/>
                    </a:p>
                  </a:txBody>
                  <a:tcPr/>
                </a:tc>
                <a:tc>
                  <a:txBody>
                    <a:bodyPr/>
                    <a:lstStyle/>
                    <a:p>
                      <a:r>
                        <a:rPr lang="en-US" dirty="0">
                          <a:latin typeface="Arial" panose="020B0604020202020204" pitchFamily="34" charset="0"/>
                        </a:rPr>
                        <a:t>Role</a:t>
                      </a:r>
                      <a:endParaRPr lang="en-US" dirty="0"/>
                    </a:p>
                  </a:txBody>
                  <a:tcPr/>
                </a:tc>
                <a:tc>
                  <a:txBody>
                    <a:bodyPr/>
                    <a:lstStyle/>
                    <a:p>
                      <a:r>
                        <a:rPr lang="en-US" dirty="0">
                          <a:latin typeface="Arial" panose="020B0604020202020204" pitchFamily="34" charset="0"/>
                        </a:rPr>
                        <a:t>Links</a:t>
                      </a:r>
                      <a:endParaRPr lang="en-US" dirty="0"/>
                    </a:p>
                  </a:txBody>
                  <a:tcPr/>
                </a:tc>
                <a:extLst>
                  <a:ext uri="{0D108BD9-81ED-4DB2-BD59-A6C34878D82A}">
                    <a16:rowId xmlns:a16="http://schemas.microsoft.com/office/drawing/2014/main" val="1565654585"/>
                  </a:ext>
                </a:extLst>
              </a:tr>
              <a:tr h="865321">
                <a:tc>
                  <a:txBody>
                    <a:bodyPr/>
                    <a:lstStyle/>
                    <a:p>
                      <a:r>
                        <a:rPr lang="en-US" dirty="0" err="1">
                          <a:solidFill>
                            <a:srgbClr val="065B94"/>
                          </a:solidFill>
                          <a:latin typeface="Arial" panose="020B0604020202020204" pitchFamily="34" charset="0"/>
                        </a:rPr>
                        <a:t>Kirollos</a:t>
                      </a:r>
                      <a:r>
                        <a:rPr lang="en-US" dirty="0">
                          <a:solidFill>
                            <a:srgbClr val="065B94"/>
                          </a:solidFill>
                        </a:rPr>
                        <a:t> </a:t>
                      </a:r>
                      <a:r>
                        <a:rPr lang="en-US" dirty="0" err="1">
                          <a:solidFill>
                            <a:srgbClr val="065B94"/>
                          </a:solidFill>
                        </a:rPr>
                        <a:t>Sameh</a:t>
                      </a:r>
                      <a:r>
                        <a:rPr lang="en-US" dirty="0">
                          <a:solidFill>
                            <a:srgbClr val="065B94"/>
                          </a:solidFill>
                        </a:rPr>
                        <a:t> Boules</a:t>
                      </a:r>
                    </a:p>
                  </a:txBody>
                  <a:tcPr/>
                </a:tc>
                <a:tc>
                  <a:txBody>
                    <a:bodyPr/>
                    <a:lstStyle/>
                    <a:p>
                      <a:r>
                        <a:rPr lang="en-US" sz="1800" kern="1200" dirty="0">
                          <a:solidFill>
                            <a:srgbClr val="065B94"/>
                          </a:solidFill>
                          <a:latin typeface="Arial" panose="020B0604020202020204" pitchFamily="34" charset="0"/>
                          <a:ea typeface="+mn-ea"/>
                          <a:cs typeface="+mn-cs"/>
                        </a:rPr>
                        <a:t>Data Cleaning, Sentiment Analysis, NLP</a:t>
                      </a:r>
                    </a:p>
                  </a:txBody>
                  <a:tcPr/>
                </a:tc>
                <a:tc>
                  <a:txBody>
                    <a:bodyPr/>
                    <a:lstStyle/>
                    <a:p>
                      <a:r>
                        <a:rPr lang="en-US" dirty="0">
                          <a:latin typeface="Arial" panose="020B0604020202020204" pitchFamily="34" charset="0"/>
                          <a:hlinkClick r:id="rId2"/>
                        </a:rPr>
                        <a:t>LinkedIn</a:t>
                      </a:r>
                      <a:r>
                        <a:rPr lang="en-US" dirty="0">
                          <a:latin typeface="Arial" panose="020B0604020202020204" pitchFamily="34" charset="0"/>
                        </a:rPr>
                        <a:t>       </a:t>
                      </a:r>
                      <a:r>
                        <a:rPr lang="en-US" dirty="0">
                          <a:latin typeface="Arial" panose="020B0604020202020204" pitchFamily="34" charset="0"/>
                          <a:hlinkClick r:id="rId3"/>
                        </a:rPr>
                        <a:t>GitHub</a:t>
                      </a:r>
                      <a:endParaRPr lang="en-US" dirty="0">
                        <a:latin typeface="Arial" panose="020B0604020202020204" pitchFamily="34" charset="0"/>
                      </a:endParaRPr>
                    </a:p>
                  </a:txBody>
                  <a:tcPr/>
                </a:tc>
                <a:extLst>
                  <a:ext uri="{0D108BD9-81ED-4DB2-BD59-A6C34878D82A}">
                    <a16:rowId xmlns:a16="http://schemas.microsoft.com/office/drawing/2014/main" val="29330878"/>
                  </a:ext>
                </a:extLst>
              </a:tr>
              <a:tr h="865321">
                <a:tc>
                  <a:txBody>
                    <a:bodyPr/>
                    <a:lstStyle/>
                    <a:p>
                      <a:r>
                        <a:rPr lang="en-US" sz="1800" kern="1200" dirty="0">
                          <a:solidFill>
                            <a:srgbClr val="065B94"/>
                          </a:solidFill>
                          <a:latin typeface="Arial" panose="020B0604020202020204" pitchFamily="34" charset="0"/>
                          <a:ea typeface="+mn-ea"/>
                          <a:cs typeface="+mn-cs"/>
                        </a:rPr>
                        <a:t>Fares Hesham </a:t>
                      </a:r>
                    </a:p>
                  </a:txBody>
                  <a:tcPr/>
                </a:tc>
                <a:tc>
                  <a:txBody>
                    <a:bodyPr/>
                    <a:lstStyle/>
                    <a:p>
                      <a:r>
                        <a:rPr lang="en-US" sz="1800" kern="1200" dirty="0">
                          <a:solidFill>
                            <a:srgbClr val="065B94"/>
                          </a:solidFill>
                          <a:latin typeface="Arial" panose="020B0604020202020204" pitchFamily="34" charset="0"/>
                          <a:ea typeface="+mn-ea"/>
                          <a:cs typeface="+mn-cs"/>
                        </a:rPr>
                        <a:t>API</a:t>
                      </a:r>
                      <a:r>
                        <a:rPr lang="en-US" sz="1800" kern="1200">
                          <a:solidFill>
                            <a:srgbClr val="065B94"/>
                          </a:solidFill>
                          <a:latin typeface="Arial" panose="020B0604020202020204" pitchFamily="34" charset="0"/>
                          <a:ea typeface="+mn-ea"/>
                          <a:cs typeface="+mn-cs"/>
                        </a:rPr>
                        <a:t>, Power BI</a:t>
                      </a:r>
                      <a:endParaRPr lang="en-US" sz="1800" kern="1200" dirty="0">
                        <a:solidFill>
                          <a:srgbClr val="065B94"/>
                        </a:solidFill>
                        <a:latin typeface="Arial" panose="020B0604020202020204" pitchFamily="34" charset="0"/>
                        <a:ea typeface="+mn-ea"/>
                        <a:cs typeface="+mn-cs"/>
                      </a:endParaRPr>
                    </a:p>
                  </a:txBody>
                  <a:tcPr/>
                </a:tc>
                <a:tc>
                  <a:txBody>
                    <a:bodyPr/>
                    <a:lstStyle/>
                    <a:p>
                      <a:r>
                        <a:rPr lang="en-US" dirty="0">
                          <a:latin typeface="Arial" panose="020B0604020202020204" pitchFamily="34" charset="0"/>
                          <a:hlinkClick r:id="rId4"/>
                        </a:rPr>
                        <a:t>LinkedIn</a:t>
                      </a:r>
                      <a:r>
                        <a:rPr lang="en-US" dirty="0">
                          <a:latin typeface="Arial" panose="020B0604020202020204" pitchFamily="34" charset="0"/>
                        </a:rPr>
                        <a:t>       </a:t>
                      </a:r>
                      <a:r>
                        <a:rPr lang="en-US" dirty="0">
                          <a:latin typeface="Arial" panose="020B0604020202020204" pitchFamily="34" charset="0"/>
                          <a:hlinkClick r:id="rId4"/>
                        </a:rPr>
                        <a:t>GitHub</a:t>
                      </a:r>
                      <a:endParaRPr lang="en-US" dirty="0">
                        <a:latin typeface="Arial" panose="020B0604020202020204" pitchFamily="34" charset="0"/>
                      </a:endParaRPr>
                    </a:p>
                  </a:txBody>
                  <a:tcPr/>
                </a:tc>
                <a:extLst>
                  <a:ext uri="{0D108BD9-81ED-4DB2-BD59-A6C34878D82A}">
                    <a16:rowId xmlns:a16="http://schemas.microsoft.com/office/drawing/2014/main" val="3286301670"/>
                  </a:ext>
                </a:extLst>
              </a:tr>
              <a:tr h="865321">
                <a:tc>
                  <a:txBody>
                    <a:bodyPr/>
                    <a:lstStyle/>
                    <a:p>
                      <a:r>
                        <a:rPr lang="en-US" sz="1800" kern="1200" dirty="0">
                          <a:solidFill>
                            <a:srgbClr val="065B94"/>
                          </a:solidFill>
                          <a:latin typeface="Arial" panose="020B0604020202020204" pitchFamily="34" charset="0"/>
                          <a:ea typeface="+mn-ea"/>
                          <a:cs typeface="+mn-cs"/>
                        </a:rPr>
                        <a:t>Wael Ayman</a:t>
                      </a:r>
                    </a:p>
                  </a:txBody>
                  <a:tcPr/>
                </a:tc>
                <a:tc>
                  <a:txBody>
                    <a:bodyPr/>
                    <a:lstStyle/>
                    <a:p>
                      <a:r>
                        <a:rPr lang="en-US" sz="1800" kern="1200" dirty="0">
                          <a:solidFill>
                            <a:srgbClr val="065B94"/>
                          </a:solidFill>
                          <a:latin typeface="Arial" panose="020B0604020202020204" pitchFamily="34" charset="0"/>
                          <a:ea typeface="+mn-ea"/>
                          <a:cs typeface="+mn-cs"/>
                        </a:rPr>
                        <a:t>ML Models, Deployment</a:t>
                      </a:r>
                    </a:p>
                  </a:txBody>
                  <a:tcPr/>
                </a:tc>
                <a:tc>
                  <a:txBody>
                    <a:bodyPr/>
                    <a:lstStyle/>
                    <a:p>
                      <a:r>
                        <a:rPr lang="en-US" dirty="0">
                          <a:latin typeface="Arial" panose="020B0604020202020204" pitchFamily="34" charset="0"/>
                          <a:hlinkClick r:id="rId5"/>
                        </a:rPr>
                        <a:t>LinkedIn</a:t>
                      </a:r>
                      <a:r>
                        <a:rPr lang="en-US" dirty="0">
                          <a:latin typeface="Arial" panose="020B0604020202020204" pitchFamily="34" charset="0"/>
                        </a:rPr>
                        <a:t>        </a:t>
                      </a:r>
                      <a:r>
                        <a:rPr lang="en-US" dirty="0">
                          <a:latin typeface="Arial" panose="020B0604020202020204" pitchFamily="34" charset="0"/>
                          <a:hlinkClick r:id="rId6"/>
                        </a:rPr>
                        <a:t>GitHub</a:t>
                      </a:r>
                      <a:endParaRPr lang="en-US" dirty="0">
                        <a:latin typeface="Arial" panose="020B0604020202020204" pitchFamily="34" charset="0"/>
                      </a:endParaRPr>
                    </a:p>
                  </a:txBody>
                  <a:tcPr/>
                </a:tc>
                <a:extLst>
                  <a:ext uri="{0D108BD9-81ED-4DB2-BD59-A6C34878D82A}">
                    <a16:rowId xmlns:a16="http://schemas.microsoft.com/office/drawing/2014/main" val="4017880506"/>
                  </a:ext>
                </a:extLst>
              </a:tr>
            </a:tbl>
          </a:graphicData>
        </a:graphic>
      </p:graphicFrame>
    </p:spTree>
    <p:extLst>
      <p:ext uri="{BB962C8B-B14F-4D97-AF65-F5344CB8AC3E}">
        <p14:creationId xmlns:p14="http://schemas.microsoft.com/office/powerpoint/2010/main" val="1439967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02E416-D2F6-5691-B5D3-0F318A918375}"/>
              </a:ext>
            </a:extLst>
          </p:cNvPr>
          <p:cNvSpPr>
            <a:spLocks noGrp="1"/>
          </p:cNvSpPr>
          <p:nvPr>
            <p:ph type="title"/>
          </p:nvPr>
        </p:nvSpPr>
        <p:spPr/>
        <p:txBody>
          <a:bodyPr/>
          <a:lstStyle/>
          <a:p>
            <a:r>
              <a:rPr lang="en-US" dirty="0">
                <a:solidFill>
                  <a:srgbClr val="065B94"/>
                </a:solidFill>
                <a:latin typeface="Arial" panose="020B0604020202020204" pitchFamily="34" charset="0"/>
              </a:rPr>
              <a:t>Background</a:t>
            </a:r>
            <a:endParaRPr lang="en-EG" dirty="0">
              <a:solidFill>
                <a:srgbClr val="065B94"/>
              </a:solidFill>
              <a:latin typeface="Arial" panose="020B0604020202020204" pitchFamily="34" charset="0"/>
            </a:endParaRPr>
          </a:p>
        </p:txBody>
      </p:sp>
      <p:sp>
        <p:nvSpPr>
          <p:cNvPr id="4" name="Rectangle 3">
            <a:extLst>
              <a:ext uri="{FF2B5EF4-FFF2-40B4-BE49-F238E27FC236}">
                <a16:creationId xmlns:a16="http://schemas.microsoft.com/office/drawing/2014/main" id="{4EC6233C-6E7D-1C43-7E50-5528B1A361B6}"/>
              </a:ext>
            </a:extLst>
          </p:cNvPr>
          <p:cNvSpPr/>
          <p:nvPr/>
        </p:nvSpPr>
        <p:spPr>
          <a:xfrm>
            <a:off x="5435600" y="2419350"/>
            <a:ext cx="5918200" cy="3349595"/>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lt1"/>
              </a:solidFill>
              <a:latin typeface="Arial" panose="020B0604020202020204" pitchFamily="34" charset="0"/>
              <a:cs typeface="Segoe UI" panose="020B0502040204020203" pitchFamily="34" charset="0"/>
            </a:endParaRPr>
          </a:p>
        </p:txBody>
      </p:sp>
      <p:sp>
        <p:nvSpPr>
          <p:cNvPr id="5" name="TextBox 4">
            <a:extLst>
              <a:ext uri="{FF2B5EF4-FFF2-40B4-BE49-F238E27FC236}">
                <a16:creationId xmlns:a16="http://schemas.microsoft.com/office/drawing/2014/main" id="{53778136-80FD-6B50-54D6-A3954F50D64C}"/>
              </a:ext>
            </a:extLst>
          </p:cNvPr>
          <p:cNvSpPr txBox="1"/>
          <p:nvPr/>
        </p:nvSpPr>
        <p:spPr>
          <a:xfrm>
            <a:off x="5636694" y="2774756"/>
            <a:ext cx="5531470" cy="2811924"/>
          </a:xfrm>
          <a:prstGeom prst="rect">
            <a:avLst/>
          </a:prstGeom>
          <a:noFill/>
        </p:spPr>
        <p:txBody>
          <a:bodyPr wrap="square" rtlCol="0">
            <a:spAutoFit/>
          </a:bodyPr>
          <a:lstStyle/>
          <a:p>
            <a:pPr>
              <a:lnSpc>
                <a:spcPct val="150000"/>
              </a:lnSpc>
            </a:pPr>
            <a:r>
              <a:rPr lang="en-US" sz="2000" b="1" dirty="0">
                <a:solidFill>
                  <a:schemeClr val="bg1"/>
                </a:solidFill>
                <a:latin typeface="Arial" panose="020B0604020202020204" pitchFamily="34" charset="0"/>
              </a:rPr>
              <a:t>Millions of comments are posted daily on YouTube. Manually analyzing users' opinions is impossible. Sentiment Analysis helps companies understand customer feedback automatically using NLP and Machine Learning.</a:t>
            </a:r>
            <a:endParaRPr lang="en-US" sz="2000" b="1" dirty="0">
              <a:solidFill>
                <a:schemeClr val="bg1"/>
              </a:solidFill>
              <a:latin typeface="Arial" panose="020B0604020202020204" pitchFamily="34" charset="0"/>
              <a:cs typeface="Segoe UI" panose="020B0502040204020203" pitchFamily="34" charset="0"/>
            </a:endParaRPr>
          </a:p>
        </p:txBody>
      </p:sp>
      <p:sp>
        <p:nvSpPr>
          <p:cNvPr id="6" name="TextBox 5">
            <a:extLst>
              <a:ext uri="{FF2B5EF4-FFF2-40B4-BE49-F238E27FC236}">
                <a16:creationId xmlns:a16="http://schemas.microsoft.com/office/drawing/2014/main" id="{E22037D3-AC89-8E5A-BCA6-061E80E19998}"/>
              </a:ext>
            </a:extLst>
          </p:cNvPr>
          <p:cNvSpPr txBox="1"/>
          <p:nvPr/>
        </p:nvSpPr>
        <p:spPr>
          <a:xfrm>
            <a:off x="722086" y="4030007"/>
            <a:ext cx="4129314" cy="1200329"/>
          </a:xfrm>
          <a:prstGeom prst="rect">
            <a:avLst/>
          </a:prstGeom>
          <a:noFill/>
        </p:spPr>
        <p:txBody>
          <a:bodyPr wrap="square" rtlCol="0">
            <a:spAutoFit/>
          </a:bodyPr>
          <a:lstStyle>
            <a:defPPr>
              <a:defRPr lang="en-US"/>
            </a:defPPr>
            <a:lvl1pPr>
              <a:defRPr sz="4400" b="0">
                <a:solidFill>
                  <a:schemeClr val="tx2"/>
                </a:solidFill>
                <a:latin typeface="Playfair Display" pitchFamily="2" charset="0"/>
              </a:defRPr>
            </a:lvl1pPr>
          </a:lstStyle>
          <a:p>
            <a:r>
              <a:rPr lang="en-US" sz="3600" b="1" dirty="0">
                <a:latin typeface="Arial" panose="020B0604020202020204" pitchFamily="34" charset="0"/>
                <a:cs typeface="Segoe UI" panose="020B0502040204020203" pitchFamily="34" charset="0"/>
              </a:rPr>
              <a:t>Text on Background Of</a:t>
            </a:r>
          </a:p>
        </p:txBody>
      </p:sp>
      <p:sp>
        <p:nvSpPr>
          <p:cNvPr id="7" name="TextBox 6">
            <a:extLst>
              <a:ext uri="{FF2B5EF4-FFF2-40B4-BE49-F238E27FC236}">
                <a16:creationId xmlns:a16="http://schemas.microsoft.com/office/drawing/2014/main" id="{A320A1BD-3EA7-0D92-32FD-F27779E07CF5}"/>
              </a:ext>
            </a:extLst>
          </p:cNvPr>
          <p:cNvSpPr txBox="1"/>
          <p:nvPr/>
        </p:nvSpPr>
        <p:spPr>
          <a:xfrm>
            <a:off x="722086" y="5256139"/>
            <a:ext cx="2748478" cy="338554"/>
          </a:xfrm>
          <a:prstGeom prst="rect">
            <a:avLst/>
          </a:prstGeom>
          <a:noFill/>
        </p:spPr>
        <p:txBody>
          <a:bodyPr wrap="square" rtlCol="0">
            <a:spAutoFit/>
          </a:bodyPr>
          <a:lstStyle>
            <a:defPPr>
              <a:defRPr lang="en-US"/>
            </a:defPPr>
            <a:lvl1pPr>
              <a:defRPr sz="1300">
                <a:solidFill>
                  <a:schemeClr val="tx2"/>
                </a:solidFill>
                <a:latin typeface="Courgette" panose="02000603070400060004" pitchFamily="2" charset="0"/>
              </a:defRPr>
            </a:lvl1pPr>
          </a:lstStyle>
          <a:p>
            <a:r>
              <a:rPr lang="en-US" sz="1600" b="1" dirty="0">
                <a:latin typeface="Arial" panose="020B0604020202020204" pitchFamily="34" charset="0"/>
                <a:cs typeface="Segoe UI Semibold" panose="020B0702040204020203" pitchFamily="34" charset="0"/>
              </a:rPr>
              <a:t>Sub-headline goes here</a:t>
            </a:r>
          </a:p>
        </p:txBody>
      </p:sp>
      <p:pic>
        <p:nvPicPr>
          <p:cNvPr id="9222" name="Picture 6" descr="Youtube Subscribe Button Transparent Background Transparent PNG - 1004x505  - Free Download on NicePNG">
            <a:extLst>
              <a:ext uri="{FF2B5EF4-FFF2-40B4-BE49-F238E27FC236}">
                <a16:creationId xmlns:a16="http://schemas.microsoft.com/office/drawing/2014/main" id="{4CF66429-A528-4EC7-BDFF-FFEA39C7FEC6}"/>
              </a:ext>
            </a:extLst>
          </p:cNvPr>
          <p:cNvPicPr>
            <a:picLocks noGrp="1" noChangeAspect="1" noChangeArrowheads="1"/>
          </p:cNvPicPr>
          <p:nvPr>
            <p:ph type="pic" sz="quarter" idx="10"/>
          </p:nvPr>
        </p:nvPicPr>
        <p:blipFill rotWithShape="1">
          <a:blip r:embed="rId3">
            <a:extLst>
              <a:ext uri="{28A0092B-C50C-407E-A947-70E740481C1C}">
                <a14:useLocalDpi xmlns:a14="http://schemas.microsoft.com/office/drawing/2010/main" val="0"/>
              </a:ext>
            </a:extLst>
          </a:blip>
          <a:srcRect l="1330" r="1330"/>
          <a:stretch/>
        </p:blipFill>
        <p:spPr bwMode="auto">
          <a:xfrm>
            <a:off x="-1" y="2376488"/>
            <a:ext cx="5340485" cy="3392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415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F578634-F6B2-B5A9-441F-37C6B8A6B067}"/>
              </a:ext>
            </a:extLst>
          </p:cNvPr>
          <p:cNvSpPr>
            <a:spLocks noGrp="1"/>
          </p:cNvSpPr>
          <p:nvPr>
            <p:ph type="body" sz="quarter" idx="12"/>
          </p:nvPr>
        </p:nvSpPr>
        <p:spPr>
          <a:xfrm>
            <a:off x="462068" y="1316734"/>
            <a:ext cx="4074856" cy="424732"/>
          </a:xfrm>
        </p:spPr>
        <p:txBody>
          <a:bodyPr/>
          <a:lstStyle/>
          <a:p>
            <a:r>
              <a:rPr lang="en-US" b="1" dirty="0">
                <a:solidFill>
                  <a:srgbClr val="065B94"/>
                </a:solidFill>
                <a:latin typeface="Arial" panose="020B0604020202020204" pitchFamily="34" charset="0"/>
              </a:rPr>
              <a:t>Problem Statement</a:t>
            </a:r>
            <a:endParaRPr lang="en-EG" b="1" dirty="0">
              <a:solidFill>
                <a:srgbClr val="065B94"/>
              </a:solidFill>
              <a:latin typeface="Arial" panose="020B0604020202020204" pitchFamily="34" charset="0"/>
            </a:endParaRPr>
          </a:p>
        </p:txBody>
      </p:sp>
      <p:sp>
        <p:nvSpPr>
          <p:cNvPr id="9" name="TextBox 8">
            <a:extLst>
              <a:ext uri="{FF2B5EF4-FFF2-40B4-BE49-F238E27FC236}">
                <a16:creationId xmlns:a16="http://schemas.microsoft.com/office/drawing/2014/main" id="{08B868D7-DD20-6B80-29D2-AD9AAE9BAECF}"/>
              </a:ext>
            </a:extLst>
          </p:cNvPr>
          <p:cNvSpPr txBox="1"/>
          <p:nvPr/>
        </p:nvSpPr>
        <p:spPr>
          <a:xfrm>
            <a:off x="726687" y="2545640"/>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Current Problem</a:t>
            </a:r>
          </a:p>
        </p:txBody>
      </p:sp>
      <p:sp>
        <p:nvSpPr>
          <p:cNvPr id="10" name="TextBox 9">
            <a:extLst>
              <a:ext uri="{FF2B5EF4-FFF2-40B4-BE49-F238E27FC236}">
                <a16:creationId xmlns:a16="http://schemas.microsoft.com/office/drawing/2014/main" id="{5A6105B5-C0E3-4290-D9C8-D15B0C979A23}"/>
              </a:ext>
            </a:extLst>
          </p:cNvPr>
          <p:cNvSpPr txBox="1"/>
          <p:nvPr/>
        </p:nvSpPr>
        <p:spPr>
          <a:xfrm>
            <a:off x="726687" y="2884194"/>
            <a:ext cx="4664012" cy="785343"/>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marL="285750" indent="-285750">
              <a:buFont typeface="Arial" panose="020B0604020202020204" pitchFamily="34" charset="0"/>
              <a:buChar char="•"/>
            </a:pPr>
            <a:r>
              <a:rPr lang="en-US" altLang="en-US" sz="1600" dirty="0">
                <a:solidFill>
                  <a:srgbClr val="065B94"/>
                </a:solidFill>
                <a:latin typeface="Arial" panose="020B0604020202020204" pitchFamily="34" charset="0"/>
                <a:cs typeface="Segoe UI" panose="020B0502040204020203" pitchFamily="34" charset="0"/>
              </a:rPr>
              <a:t>Huge amount of YouTube comments. </a:t>
            </a:r>
          </a:p>
          <a:p>
            <a:pPr marL="285750" indent="-285750">
              <a:buFont typeface="Arial" panose="020B0604020202020204" pitchFamily="34" charset="0"/>
              <a:buChar char="•"/>
            </a:pPr>
            <a:r>
              <a:rPr lang="en-US" altLang="en-US" sz="1600" dirty="0">
                <a:solidFill>
                  <a:srgbClr val="065B94"/>
                </a:solidFill>
                <a:latin typeface="Arial" panose="020B0604020202020204" pitchFamily="34" charset="0"/>
                <a:cs typeface="Segoe UI" panose="020B0502040204020203" pitchFamily="34" charset="0"/>
              </a:rPr>
              <a:t>Difficult to classify opinions manually. </a:t>
            </a:r>
          </a:p>
        </p:txBody>
      </p:sp>
      <p:sp>
        <p:nvSpPr>
          <p:cNvPr id="11" name="TextBox 10">
            <a:extLst>
              <a:ext uri="{FF2B5EF4-FFF2-40B4-BE49-F238E27FC236}">
                <a16:creationId xmlns:a16="http://schemas.microsoft.com/office/drawing/2014/main" id="{0E44AD78-6F93-C0EA-5222-99F1AE1282F6}"/>
              </a:ext>
            </a:extLst>
          </p:cNvPr>
          <p:cNvSpPr txBox="1"/>
          <p:nvPr/>
        </p:nvSpPr>
        <p:spPr>
          <a:xfrm>
            <a:off x="726686" y="4221428"/>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Proposed Solution</a:t>
            </a:r>
          </a:p>
        </p:txBody>
      </p:sp>
      <p:sp>
        <p:nvSpPr>
          <p:cNvPr id="12" name="TextBox 11">
            <a:extLst>
              <a:ext uri="{FF2B5EF4-FFF2-40B4-BE49-F238E27FC236}">
                <a16:creationId xmlns:a16="http://schemas.microsoft.com/office/drawing/2014/main" id="{DC2439FF-C918-A298-B4C0-1E75A62A5057}"/>
              </a:ext>
            </a:extLst>
          </p:cNvPr>
          <p:cNvSpPr txBox="1"/>
          <p:nvPr/>
        </p:nvSpPr>
        <p:spPr>
          <a:xfrm>
            <a:off x="726686" y="4792002"/>
            <a:ext cx="4460664" cy="785343"/>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marL="285750" indent="-285750">
              <a:buFont typeface="Arial" panose="020B0604020202020204" pitchFamily="34" charset="0"/>
              <a:buChar char="•"/>
            </a:pPr>
            <a:r>
              <a:rPr lang="en-US" sz="1600" dirty="0">
                <a:solidFill>
                  <a:srgbClr val="065B94"/>
                </a:solidFill>
                <a:latin typeface="Arial" panose="020B0604020202020204" pitchFamily="34" charset="0"/>
                <a:cs typeface="Segoe UI" panose="020B0502040204020203" pitchFamily="34" charset="0"/>
              </a:rPr>
              <a:t>Build an automated Sentiment Analysis model.</a:t>
            </a:r>
          </a:p>
        </p:txBody>
      </p:sp>
    </p:spTree>
    <p:extLst>
      <p:ext uri="{BB962C8B-B14F-4D97-AF65-F5344CB8AC3E}">
        <p14:creationId xmlns:p14="http://schemas.microsoft.com/office/powerpoint/2010/main" val="1556279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810800-D88D-544B-9928-C765DD7B8F65}"/>
              </a:ext>
            </a:extLst>
          </p:cNvPr>
          <p:cNvSpPr>
            <a:spLocks noGrp="1"/>
          </p:cNvSpPr>
          <p:nvPr>
            <p:ph type="title"/>
          </p:nvPr>
        </p:nvSpPr>
        <p:spPr/>
        <p:txBody>
          <a:bodyPr/>
          <a:lstStyle/>
          <a:p>
            <a:r>
              <a:rPr lang="en-US" dirty="0">
                <a:solidFill>
                  <a:srgbClr val="065B94"/>
                </a:solidFill>
              </a:rPr>
              <a:t>Objectives</a:t>
            </a:r>
            <a:endParaRPr lang="en-EG" dirty="0">
              <a:solidFill>
                <a:srgbClr val="065B94"/>
              </a:solidFill>
            </a:endParaRPr>
          </a:p>
        </p:txBody>
      </p:sp>
      <p:sp>
        <p:nvSpPr>
          <p:cNvPr id="11" name="TextBox 10">
            <a:extLst>
              <a:ext uri="{FF2B5EF4-FFF2-40B4-BE49-F238E27FC236}">
                <a16:creationId xmlns:a16="http://schemas.microsoft.com/office/drawing/2014/main" id="{5B91198E-A3DE-A704-09AD-777609A67DCD}"/>
              </a:ext>
            </a:extLst>
          </p:cNvPr>
          <p:cNvSpPr txBox="1"/>
          <p:nvPr/>
        </p:nvSpPr>
        <p:spPr>
          <a:xfrm>
            <a:off x="652564" y="2843886"/>
            <a:ext cx="2832308" cy="400110"/>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2000" b="1" dirty="0">
                <a:solidFill>
                  <a:srgbClr val="065B94"/>
                </a:solidFill>
                <a:latin typeface="Arial" panose="020B0604020202020204" pitchFamily="34" charset="0"/>
              </a:rPr>
              <a:t>Business Objective</a:t>
            </a:r>
            <a:endParaRPr lang="en-US" sz="2000" b="1" dirty="0">
              <a:solidFill>
                <a:srgbClr val="065B94"/>
              </a:solidFill>
              <a:latin typeface="Arial" panose="020B0604020202020204" pitchFamily="34" charset="0"/>
              <a:cs typeface="Segoe UI Semibold" panose="020B0702040204020203" pitchFamily="34" charset="0"/>
            </a:endParaRPr>
          </a:p>
        </p:txBody>
      </p:sp>
      <p:sp>
        <p:nvSpPr>
          <p:cNvPr id="12" name="TextBox 11">
            <a:extLst>
              <a:ext uri="{FF2B5EF4-FFF2-40B4-BE49-F238E27FC236}">
                <a16:creationId xmlns:a16="http://schemas.microsoft.com/office/drawing/2014/main" id="{D566BA89-F880-6908-B765-C20843A43815}"/>
              </a:ext>
            </a:extLst>
          </p:cNvPr>
          <p:cNvSpPr txBox="1"/>
          <p:nvPr/>
        </p:nvSpPr>
        <p:spPr>
          <a:xfrm>
            <a:off x="1649791" y="3277948"/>
            <a:ext cx="3670162" cy="456535"/>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gn="just"/>
            <a:r>
              <a:rPr lang="en-US" sz="1800" dirty="0">
                <a:solidFill>
                  <a:srgbClr val="065B94"/>
                </a:solidFill>
                <a:latin typeface="Arial" panose="020B0604020202020204" pitchFamily="34" charset="0"/>
              </a:rPr>
              <a:t>Understand audience opinion.</a:t>
            </a:r>
            <a:endParaRPr lang="en-US" sz="1800" dirty="0">
              <a:solidFill>
                <a:srgbClr val="065B94"/>
              </a:solidFill>
              <a:latin typeface="Arial" panose="020B0604020202020204" pitchFamily="34" charset="0"/>
              <a:cs typeface="Segoe UI" panose="020B0502040204020203" pitchFamily="34" charset="0"/>
            </a:endParaRPr>
          </a:p>
        </p:txBody>
      </p:sp>
      <p:sp>
        <p:nvSpPr>
          <p:cNvPr id="13" name="TextBox 12">
            <a:extLst>
              <a:ext uri="{FF2B5EF4-FFF2-40B4-BE49-F238E27FC236}">
                <a16:creationId xmlns:a16="http://schemas.microsoft.com/office/drawing/2014/main" id="{EC218B82-5015-6581-1D9C-61F61639A309}"/>
              </a:ext>
            </a:extLst>
          </p:cNvPr>
          <p:cNvSpPr txBox="1"/>
          <p:nvPr/>
        </p:nvSpPr>
        <p:spPr>
          <a:xfrm>
            <a:off x="652564" y="4272290"/>
            <a:ext cx="2882760" cy="400110"/>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2000" b="1" dirty="0">
                <a:latin typeface="Arial" panose="020B0604020202020204" pitchFamily="34" charset="0"/>
              </a:rPr>
              <a:t>Technical Objective</a:t>
            </a:r>
            <a:endParaRPr lang="en-US" sz="2000" b="1" dirty="0">
              <a:solidFill>
                <a:srgbClr val="0D76BD"/>
              </a:solidFill>
              <a:latin typeface="Arial" panose="020B0604020202020204" pitchFamily="34" charset="0"/>
              <a:cs typeface="Segoe UI Semibold" panose="020B0702040204020203" pitchFamily="34" charset="0"/>
            </a:endParaRPr>
          </a:p>
        </p:txBody>
      </p:sp>
      <p:sp>
        <p:nvSpPr>
          <p:cNvPr id="14" name="TextBox 13">
            <a:extLst>
              <a:ext uri="{FF2B5EF4-FFF2-40B4-BE49-F238E27FC236}">
                <a16:creationId xmlns:a16="http://schemas.microsoft.com/office/drawing/2014/main" id="{21AF0AC1-41D8-F547-8E2A-27D4A2D08E89}"/>
              </a:ext>
            </a:extLst>
          </p:cNvPr>
          <p:cNvSpPr txBox="1"/>
          <p:nvPr/>
        </p:nvSpPr>
        <p:spPr>
          <a:xfrm>
            <a:off x="1649791" y="4587191"/>
            <a:ext cx="7677089" cy="871587"/>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gn="just"/>
            <a:r>
              <a:rPr lang="en-US" sz="1800" dirty="0">
                <a:latin typeface="Arial" panose="020B0604020202020204" pitchFamily="34" charset="0"/>
              </a:rPr>
              <a:t>Develop an NLP model capable of predicting Positive, Negative and Neutral comments.</a:t>
            </a:r>
            <a:endParaRPr lang="en-US" sz="1800" dirty="0">
              <a:solidFill>
                <a:srgbClr val="065B94"/>
              </a:solidFill>
              <a:latin typeface="Arial" panose="020B0604020202020204" pitchFamily="34" charset="0"/>
              <a:cs typeface="Segoe UI" panose="020B0502040204020203" pitchFamily="34" charset="0"/>
            </a:endParaRPr>
          </a:p>
        </p:txBody>
      </p:sp>
    </p:spTree>
    <p:extLst>
      <p:ext uri="{BB962C8B-B14F-4D97-AF65-F5344CB8AC3E}">
        <p14:creationId xmlns:p14="http://schemas.microsoft.com/office/powerpoint/2010/main" val="899683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204858C-8EDD-4B4D-A7C5-C79EABFD2D48}"/>
              </a:ext>
            </a:extLst>
          </p:cNvPr>
          <p:cNvPicPr>
            <a:picLocks noGrp="1" noChangeAspect="1"/>
          </p:cNvPicPr>
          <p:nvPr>
            <p:ph type="pic" sz="quarter" idx="11"/>
          </p:nvPr>
        </p:nvPicPr>
        <p:blipFill rotWithShape="1">
          <a:blip r:embed="rId3"/>
          <a:srcRect l="565" t="-538" r="565" b="-538"/>
          <a:stretch/>
        </p:blipFill>
        <p:spPr>
          <a:xfrm>
            <a:off x="6700171" y="2561352"/>
            <a:ext cx="3425233" cy="2633215"/>
          </a:xfrm>
          <a:prstGeom prst="rect">
            <a:avLst/>
          </a:prstGeom>
        </p:spPr>
      </p:pic>
      <p:sp>
        <p:nvSpPr>
          <p:cNvPr id="4" name="Title 3">
            <a:extLst>
              <a:ext uri="{FF2B5EF4-FFF2-40B4-BE49-F238E27FC236}">
                <a16:creationId xmlns:a16="http://schemas.microsoft.com/office/drawing/2014/main" id="{DBCD770F-3897-47FC-371D-7EC698F231C3}"/>
              </a:ext>
            </a:extLst>
          </p:cNvPr>
          <p:cNvSpPr>
            <a:spLocks noGrp="1"/>
          </p:cNvSpPr>
          <p:nvPr>
            <p:ph type="title"/>
          </p:nvPr>
        </p:nvSpPr>
        <p:spPr/>
        <p:txBody>
          <a:bodyPr/>
          <a:lstStyle/>
          <a:p>
            <a:r>
              <a:rPr lang="en-US" dirty="0">
                <a:solidFill>
                  <a:srgbClr val="065B94"/>
                </a:solidFill>
              </a:rPr>
              <a:t>Workflow</a:t>
            </a:r>
            <a:endParaRPr lang="en-EG" dirty="0">
              <a:solidFill>
                <a:srgbClr val="065B94"/>
              </a:solidFill>
            </a:endParaRPr>
          </a:p>
        </p:txBody>
      </p:sp>
      <p:sp>
        <p:nvSpPr>
          <p:cNvPr id="8" name="TextBox 7">
            <a:extLst>
              <a:ext uri="{FF2B5EF4-FFF2-40B4-BE49-F238E27FC236}">
                <a16:creationId xmlns:a16="http://schemas.microsoft.com/office/drawing/2014/main" id="{2FCF3ACB-2003-6900-BA70-FD3F5558C214}"/>
              </a:ext>
            </a:extLst>
          </p:cNvPr>
          <p:cNvSpPr txBox="1"/>
          <p:nvPr/>
        </p:nvSpPr>
        <p:spPr>
          <a:xfrm>
            <a:off x="1859107" y="1934753"/>
            <a:ext cx="4841064" cy="4486100"/>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dirty="0">
                <a:latin typeface="Arial" panose="020B0604020202020204" pitchFamily="34" charset="0"/>
              </a:rPr>
              <a:t>	YouTube API              	 	</a:t>
            </a:r>
          </a:p>
          <a:p>
            <a:r>
              <a:rPr lang="en-US" sz="1600" dirty="0">
                <a:latin typeface="Arial" panose="020B0604020202020204" pitchFamily="34" charset="0"/>
              </a:rPr>
              <a:t>	   Raw Data</a:t>
            </a:r>
          </a:p>
          <a:p>
            <a:r>
              <a:rPr lang="en-US" sz="1600" dirty="0">
                <a:latin typeface="Arial" panose="020B0604020202020204" pitchFamily="34" charset="0"/>
              </a:rPr>
              <a:t>	      EDA</a:t>
            </a:r>
          </a:p>
          <a:p>
            <a:r>
              <a:rPr lang="en-US" sz="1600" dirty="0">
                <a:latin typeface="Arial" panose="020B0604020202020204" pitchFamily="34" charset="0"/>
              </a:rPr>
              <a:t>	         Cleaning</a:t>
            </a:r>
          </a:p>
          <a:p>
            <a:r>
              <a:rPr lang="en-US" sz="1600" dirty="0">
                <a:latin typeface="Arial" panose="020B0604020202020204" pitchFamily="34" charset="0"/>
              </a:rPr>
              <a:t>	             NLP</a:t>
            </a:r>
          </a:p>
          <a:p>
            <a:r>
              <a:rPr lang="en-US" sz="1600" dirty="0">
                <a:latin typeface="Arial" panose="020B0604020202020204" pitchFamily="34" charset="0"/>
              </a:rPr>
              <a:t>	                 Sentiment Labeling</a:t>
            </a:r>
          </a:p>
          <a:p>
            <a:r>
              <a:rPr lang="en-US" sz="1600" dirty="0">
                <a:latin typeface="Arial" panose="020B0604020202020204" pitchFamily="34" charset="0"/>
              </a:rPr>
              <a:t>		 Machine Learning</a:t>
            </a:r>
          </a:p>
          <a:p>
            <a:r>
              <a:rPr lang="en-US" sz="1600" dirty="0">
                <a:latin typeface="Arial" panose="020B0604020202020204" pitchFamily="34" charset="0"/>
              </a:rPr>
              <a:t>		    Evaluation</a:t>
            </a:r>
          </a:p>
          <a:p>
            <a:r>
              <a:rPr lang="en-US" sz="1600" dirty="0">
                <a:latin typeface="Arial" panose="020B0604020202020204" pitchFamily="34" charset="0"/>
              </a:rPr>
              <a:t>		       Deployment</a:t>
            </a:r>
          </a:p>
          <a:p>
            <a:endParaRPr lang="en-US" sz="1600" dirty="0">
              <a:latin typeface="Arial" panose="020B0604020202020204" pitchFamily="34" charset="0"/>
            </a:endParaRPr>
          </a:p>
          <a:p>
            <a:endParaRPr lang="en-US" sz="1600" dirty="0">
              <a:latin typeface="Arial" panose="020B0604020202020204" pitchFamily="34" charset="0"/>
            </a:endParaRPr>
          </a:p>
          <a:p>
            <a:endParaRPr lang="en-US" sz="1600" dirty="0">
              <a:latin typeface="Arial" panose="020B0604020202020204" pitchFamily="34" charset="0"/>
            </a:endParaRPr>
          </a:p>
        </p:txBody>
      </p:sp>
      <p:cxnSp>
        <p:nvCxnSpPr>
          <p:cNvPr id="6" name="Straight Arrow Connector 5">
            <a:extLst>
              <a:ext uri="{FF2B5EF4-FFF2-40B4-BE49-F238E27FC236}">
                <a16:creationId xmlns:a16="http://schemas.microsoft.com/office/drawing/2014/main" id="{A7F65590-92E4-4892-83E3-EC381441E30C}"/>
              </a:ext>
            </a:extLst>
          </p:cNvPr>
          <p:cNvCxnSpPr/>
          <p:nvPr/>
        </p:nvCxnSpPr>
        <p:spPr>
          <a:xfrm>
            <a:off x="2373549" y="2185482"/>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4811D76-7DA7-4B5C-81D7-64A088F10CC5}"/>
              </a:ext>
            </a:extLst>
          </p:cNvPr>
          <p:cNvCxnSpPr/>
          <p:nvPr/>
        </p:nvCxnSpPr>
        <p:spPr>
          <a:xfrm>
            <a:off x="2525949" y="2551898"/>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410C7E7-F1E3-4F46-877C-802CED3109F1}"/>
              </a:ext>
            </a:extLst>
          </p:cNvPr>
          <p:cNvCxnSpPr/>
          <p:nvPr/>
        </p:nvCxnSpPr>
        <p:spPr>
          <a:xfrm>
            <a:off x="2678349" y="2908572"/>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43BD020-794A-4C7E-AF41-D76FE454764D}"/>
              </a:ext>
            </a:extLst>
          </p:cNvPr>
          <p:cNvCxnSpPr/>
          <p:nvPr/>
        </p:nvCxnSpPr>
        <p:spPr>
          <a:xfrm>
            <a:off x="2830749" y="3284703"/>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AAA9E1-EB4F-4CB4-A648-0CEFB599646F}"/>
              </a:ext>
            </a:extLst>
          </p:cNvPr>
          <p:cNvCxnSpPr/>
          <p:nvPr/>
        </p:nvCxnSpPr>
        <p:spPr>
          <a:xfrm>
            <a:off x="2983149" y="3641387"/>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EB4C968-26C0-4D7A-B3EE-57C6F97FE478}"/>
              </a:ext>
            </a:extLst>
          </p:cNvPr>
          <p:cNvCxnSpPr/>
          <p:nvPr/>
        </p:nvCxnSpPr>
        <p:spPr>
          <a:xfrm>
            <a:off x="3135549" y="4017523"/>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4567B16-ECC7-4C55-A5F5-C9DE563F6B0C}"/>
              </a:ext>
            </a:extLst>
          </p:cNvPr>
          <p:cNvCxnSpPr/>
          <p:nvPr/>
        </p:nvCxnSpPr>
        <p:spPr>
          <a:xfrm>
            <a:off x="3287949" y="4393662"/>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A9B471C-675D-46BE-AB1E-50DEC42EC453}"/>
              </a:ext>
            </a:extLst>
          </p:cNvPr>
          <p:cNvCxnSpPr/>
          <p:nvPr/>
        </p:nvCxnSpPr>
        <p:spPr>
          <a:xfrm>
            <a:off x="3440349" y="4779525"/>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15138BF-2FCA-44A7-A0A4-93D7296A8A0F}"/>
              </a:ext>
            </a:extLst>
          </p:cNvPr>
          <p:cNvCxnSpPr/>
          <p:nvPr/>
        </p:nvCxnSpPr>
        <p:spPr>
          <a:xfrm>
            <a:off x="3592749" y="5126481"/>
            <a:ext cx="330740" cy="0"/>
          </a:xfrm>
          <a:prstGeom prst="straightConnector1">
            <a:avLst/>
          </a:pr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344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FE342A6F-A206-44CB-94E4-0BA29B3DBE74}"/>
              </a:ext>
            </a:extLst>
          </p:cNvPr>
          <p:cNvPicPr>
            <a:picLocks noGrp="1" noChangeAspect="1"/>
          </p:cNvPicPr>
          <p:nvPr>
            <p:ph type="pic" sz="quarter" idx="10"/>
          </p:nvPr>
        </p:nvPicPr>
        <p:blipFill rotWithShape="1">
          <a:blip r:embed="rId2"/>
          <a:srcRect l="626" t="1220" r="626" b="1220"/>
          <a:stretch/>
        </p:blipFill>
        <p:spPr>
          <a:xfrm>
            <a:off x="4891731" y="1426865"/>
            <a:ext cx="6637656" cy="3300778"/>
          </a:xfrm>
          <a:prstGeom prst="rect">
            <a:avLst/>
          </a:prstGeom>
        </p:spPr>
      </p:pic>
      <p:sp>
        <p:nvSpPr>
          <p:cNvPr id="3" name="Title 2">
            <a:extLst>
              <a:ext uri="{FF2B5EF4-FFF2-40B4-BE49-F238E27FC236}">
                <a16:creationId xmlns:a16="http://schemas.microsoft.com/office/drawing/2014/main" id="{B77AD466-D315-1A54-59BE-E0E6B059ED36}"/>
              </a:ext>
            </a:extLst>
          </p:cNvPr>
          <p:cNvSpPr>
            <a:spLocks noGrp="1"/>
          </p:cNvSpPr>
          <p:nvPr>
            <p:ph type="title"/>
          </p:nvPr>
        </p:nvSpPr>
        <p:spPr>
          <a:xfrm>
            <a:off x="662612" y="1821881"/>
            <a:ext cx="3929484" cy="535531"/>
          </a:xfrm>
        </p:spPr>
        <p:txBody>
          <a:bodyPr/>
          <a:lstStyle/>
          <a:p>
            <a:r>
              <a:rPr lang="en-US" dirty="0">
                <a:solidFill>
                  <a:srgbClr val="065B94"/>
                </a:solidFill>
              </a:rPr>
              <a:t>Dataset</a:t>
            </a:r>
            <a:endParaRPr lang="en-EG" dirty="0"/>
          </a:p>
        </p:txBody>
      </p:sp>
      <p:sp>
        <p:nvSpPr>
          <p:cNvPr id="7" name="TextBox 6">
            <a:extLst>
              <a:ext uri="{FF2B5EF4-FFF2-40B4-BE49-F238E27FC236}">
                <a16:creationId xmlns:a16="http://schemas.microsoft.com/office/drawing/2014/main" id="{5E4F0ECE-ECBB-6CB4-262D-E76874375461}"/>
              </a:ext>
            </a:extLst>
          </p:cNvPr>
          <p:cNvSpPr txBox="1"/>
          <p:nvPr/>
        </p:nvSpPr>
        <p:spPr>
          <a:xfrm>
            <a:off x="662613" y="3131972"/>
            <a:ext cx="2294854" cy="400110"/>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2000" b="1" dirty="0">
                <a:solidFill>
                  <a:srgbClr val="0D76BD"/>
                </a:solidFill>
                <a:latin typeface="Arial" panose="020B0604020202020204" pitchFamily="34" charset="0"/>
                <a:cs typeface="Segoe UI Semibold" panose="020B0702040204020203" pitchFamily="34" charset="0"/>
              </a:rPr>
              <a:t>Features</a:t>
            </a:r>
            <a:endParaRPr lang="en-US" sz="1800" b="1" dirty="0">
              <a:solidFill>
                <a:srgbClr val="0D76BD"/>
              </a:solidFill>
              <a:latin typeface="Arial" panose="020B0604020202020204" pitchFamily="34" charset="0"/>
              <a:cs typeface="Segoe UI Semibold" panose="020B0702040204020203" pitchFamily="34" charset="0"/>
            </a:endParaRPr>
          </a:p>
        </p:txBody>
      </p:sp>
      <p:sp>
        <p:nvSpPr>
          <p:cNvPr id="8" name="TextBox 7">
            <a:extLst>
              <a:ext uri="{FF2B5EF4-FFF2-40B4-BE49-F238E27FC236}">
                <a16:creationId xmlns:a16="http://schemas.microsoft.com/office/drawing/2014/main" id="{D2BE0C69-72A6-4E4A-4917-5A3CD585A2C1}"/>
              </a:ext>
            </a:extLst>
          </p:cNvPr>
          <p:cNvSpPr txBox="1"/>
          <p:nvPr/>
        </p:nvSpPr>
        <p:spPr>
          <a:xfrm>
            <a:off x="662612" y="3470526"/>
            <a:ext cx="4256315" cy="181588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Video Title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Channel Name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Views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Likes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Description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Comment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Comment Likes </a:t>
            </a:r>
          </a:p>
        </p:txBody>
      </p:sp>
      <p:sp>
        <p:nvSpPr>
          <p:cNvPr id="9" name="TextBox 8">
            <a:extLst>
              <a:ext uri="{FF2B5EF4-FFF2-40B4-BE49-F238E27FC236}">
                <a16:creationId xmlns:a16="http://schemas.microsoft.com/office/drawing/2014/main" id="{2D3CB364-CCC4-2F48-2E5D-0AA1F47C470B}"/>
              </a:ext>
            </a:extLst>
          </p:cNvPr>
          <p:cNvSpPr txBox="1"/>
          <p:nvPr/>
        </p:nvSpPr>
        <p:spPr>
          <a:xfrm>
            <a:off x="4937575" y="5007540"/>
            <a:ext cx="5823370" cy="505395"/>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2000" b="1" dirty="0">
                <a:solidFill>
                  <a:srgbClr val="0D76BD"/>
                </a:solidFill>
                <a:latin typeface="Arial" panose="020B0604020202020204" pitchFamily="34" charset="0"/>
                <a:cs typeface="Segoe UI Semibold" panose="020B0702040204020203" pitchFamily="34" charset="0"/>
              </a:rPr>
              <a:t>Source</a:t>
            </a:r>
            <a:r>
              <a:rPr lang="en-US" sz="1600" dirty="0">
                <a:solidFill>
                  <a:srgbClr val="065B94"/>
                </a:solidFill>
                <a:latin typeface="Arial" panose="020B0604020202020204" pitchFamily="34" charset="0"/>
                <a:cs typeface="Segoe UI" panose="020B0502040204020203" pitchFamily="34" charset="0"/>
              </a:rPr>
              <a:t> : </a:t>
            </a:r>
            <a:r>
              <a:rPr lang="en-US" sz="1600" dirty="0">
                <a:solidFill>
                  <a:srgbClr val="065B94"/>
                </a:solidFill>
                <a:latin typeface="Arial" panose="020B0604020202020204" pitchFamily="34" charset="0"/>
              </a:rPr>
              <a:t>YouTube Data API</a:t>
            </a:r>
          </a:p>
        </p:txBody>
      </p:sp>
    </p:spTree>
    <p:extLst>
      <p:ext uri="{BB962C8B-B14F-4D97-AF65-F5344CB8AC3E}">
        <p14:creationId xmlns:p14="http://schemas.microsoft.com/office/powerpoint/2010/main" val="2201386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2C720358-F4B4-4B76-B46B-08AB70C62438}"/>
              </a:ext>
            </a:extLst>
          </p:cNvPr>
          <p:cNvPicPr>
            <a:picLocks noGrp="1" noChangeAspect="1"/>
          </p:cNvPicPr>
          <p:nvPr>
            <p:ph type="pic" sz="quarter" idx="10"/>
          </p:nvPr>
        </p:nvPicPr>
        <p:blipFill rotWithShape="1">
          <a:blip r:embed="rId2"/>
          <a:srcRect l="-125" t="586" r="-125" b="586"/>
          <a:stretch/>
        </p:blipFill>
        <p:spPr>
          <a:xfrm>
            <a:off x="4826308" y="1589524"/>
            <a:ext cx="6966857" cy="4247362"/>
          </a:xfrm>
          <a:prstGeom prst="rect">
            <a:avLst/>
          </a:prstGeom>
        </p:spPr>
      </p:pic>
      <p:sp>
        <p:nvSpPr>
          <p:cNvPr id="3" name="Title 2">
            <a:extLst>
              <a:ext uri="{FF2B5EF4-FFF2-40B4-BE49-F238E27FC236}">
                <a16:creationId xmlns:a16="http://schemas.microsoft.com/office/drawing/2014/main" id="{0E28D2C7-CEEA-6779-FA0E-43D3652E7021}"/>
              </a:ext>
            </a:extLst>
          </p:cNvPr>
          <p:cNvSpPr>
            <a:spLocks noGrp="1"/>
          </p:cNvSpPr>
          <p:nvPr>
            <p:ph type="title"/>
          </p:nvPr>
        </p:nvSpPr>
        <p:spPr>
          <a:xfrm>
            <a:off x="662612" y="1811123"/>
            <a:ext cx="3658179" cy="535531"/>
          </a:xfrm>
        </p:spPr>
        <p:txBody>
          <a:bodyPr/>
          <a:lstStyle/>
          <a:p>
            <a:r>
              <a:rPr lang="en-US" dirty="0">
                <a:solidFill>
                  <a:srgbClr val="065B94"/>
                </a:solidFill>
              </a:rPr>
              <a:t>Data Collection</a:t>
            </a:r>
            <a:endParaRPr lang="en-EG" dirty="0">
              <a:solidFill>
                <a:srgbClr val="065B94"/>
              </a:solidFill>
            </a:endParaRPr>
          </a:p>
        </p:txBody>
      </p:sp>
      <p:sp>
        <p:nvSpPr>
          <p:cNvPr id="4" name="TextBox 3">
            <a:extLst>
              <a:ext uri="{FF2B5EF4-FFF2-40B4-BE49-F238E27FC236}">
                <a16:creationId xmlns:a16="http://schemas.microsoft.com/office/drawing/2014/main" id="{27923D3C-4067-4EE9-DB0F-57A1CB321FD0}"/>
              </a:ext>
            </a:extLst>
          </p:cNvPr>
          <p:cNvSpPr txBox="1"/>
          <p:nvPr/>
        </p:nvSpPr>
        <p:spPr>
          <a:xfrm>
            <a:off x="662613" y="3090446"/>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Tools we used</a:t>
            </a:r>
          </a:p>
        </p:txBody>
      </p:sp>
      <p:sp>
        <p:nvSpPr>
          <p:cNvPr id="5" name="TextBox 4">
            <a:extLst>
              <a:ext uri="{FF2B5EF4-FFF2-40B4-BE49-F238E27FC236}">
                <a16:creationId xmlns:a16="http://schemas.microsoft.com/office/drawing/2014/main" id="{A49BF2F5-4DC0-8A5B-43BE-726DD2C3AF2C}"/>
              </a:ext>
            </a:extLst>
          </p:cNvPr>
          <p:cNvSpPr txBox="1"/>
          <p:nvPr/>
        </p:nvSpPr>
        <p:spPr>
          <a:xfrm>
            <a:off x="662612" y="3429000"/>
            <a:ext cx="4256315" cy="1077218"/>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YouTube Data API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Python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Requests </a:t>
            </a:r>
          </a:p>
          <a:p>
            <a:pPr lvl="0" eaLnBrk="0" fontAlgn="base" hangingPunct="0">
              <a:lnSpc>
                <a:spcPct val="100000"/>
              </a:lnSpc>
              <a:spcBef>
                <a:spcPct val="0"/>
              </a:spcBef>
              <a:spcAft>
                <a:spcPct val="0"/>
              </a:spcAft>
              <a:buFontTx/>
              <a:buChar char="•"/>
            </a:pPr>
            <a:r>
              <a:rPr lang="en-US" altLang="en-US" sz="1600" dirty="0">
                <a:solidFill>
                  <a:srgbClr val="065B94"/>
                </a:solidFill>
                <a:latin typeface="Arial" panose="020B0604020202020204" pitchFamily="34" charset="0"/>
              </a:rPr>
              <a:t>JSON </a:t>
            </a:r>
          </a:p>
        </p:txBody>
      </p:sp>
    </p:spTree>
    <p:extLst>
      <p:ext uri="{BB962C8B-B14F-4D97-AF65-F5344CB8AC3E}">
        <p14:creationId xmlns:p14="http://schemas.microsoft.com/office/powerpoint/2010/main" val="196092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28D2C7-CEEA-6779-FA0E-43D3652E7021}"/>
              </a:ext>
            </a:extLst>
          </p:cNvPr>
          <p:cNvSpPr>
            <a:spLocks noGrp="1"/>
          </p:cNvSpPr>
          <p:nvPr>
            <p:ph type="title"/>
          </p:nvPr>
        </p:nvSpPr>
        <p:spPr>
          <a:xfrm>
            <a:off x="662612" y="1811123"/>
            <a:ext cx="3658179" cy="535531"/>
          </a:xfrm>
        </p:spPr>
        <p:txBody>
          <a:bodyPr/>
          <a:lstStyle/>
          <a:p>
            <a:r>
              <a:rPr lang="en-US" dirty="0">
                <a:solidFill>
                  <a:srgbClr val="065B94"/>
                </a:solidFill>
              </a:rPr>
              <a:t>Data Cleaning</a:t>
            </a:r>
            <a:endParaRPr lang="en-EG" dirty="0">
              <a:solidFill>
                <a:srgbClr val="065B94"/>
              </a:solidFill>
            </a:endParaRPr>
          </a:p>
        </p:txBody>
      </p:sp>
      <p:sp>
        <p:nvSpPr>
          <p:cNvPr id="4" name="TextBox 3">
            <a:extLst>
              <a:ext uri="{FF2B5EF4-FFF2-40B4-BE49-F238E27FC236}">
                <a16:creationId xmlns:a16="http://schemas.microsoft.com/office/drawing/2014/main" id="{27923D3C-4067-4EE9-DB0F-57A1CB321FD0}"/>
              </a:ext>
            </a:extLst>
          </p:cNvPr>
          <p:cNvSpPr txBox="1"/>
          <p:nvPr/>
        </p:nvSpPr>
        <p:spPr>
          <a:xfrm>
            <a:off x="662613" y="2963983"/>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What we did</a:t>
            </a:r>
          </a:p>
        </p:txBody>
      </p:sp>
      <p:sp>
        <p:nvSpPr>
          <p:cNvPr id="5" name="TextBox 4">
            <a:extLst>
              <a:ext uri="{FF2B5EF4-FFF2-40B4-BE49-F238E27FC236}">
                <a16:creationId xmlns:a16="http://schemas.microsoft.com/office/drawing/2014/main" id="{A49BF2F5-4DC0-8A5B-43BE-726DD2C3AF2C}"/>
              </a:ext>
            </a:extLst>
          </p:cNvPr>
          <p:cNvSpPr txBox="1"/>
          <p:nvPr/>
        </p:nvSpPr>
        <p:spPr>
          <a:xfrm>
            <a:off x="662613" y="3321992"/>
            <a:ext cx="4084486" cy="2637838"/>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dirty="0">
                <a:latin typeface="Arial" panose="020B0604020202020204" pitchFamily="34" charset="0"/>
              </a:rPr>
              <a:t>✔ Remove duplicates</a:t>
            </a:r>
          </a:p>
          <a:p>
            <a:r>
              <a:rPr lang="en-US" sz="1600" dirty="0">
                <a:latin typeface="Arial" panose="020B0604020202020204" pitchFamily="34" charset="0"/>
              </a:rPr>
              <a:t>✔ Handle missing values</a:t>
            </a:r>
            <a:endParaRPr lang="ar-EG" sz="1600" dirty="0">
              <a:latin typeface="Arial" panose="020B0604020202020204" pitchFamily="34" charset="0"/>
            </a:endParaRPr>
          </a:p>
          <a:p>
            <a:r>
              <a:rPr lang="en-US" sz="1600" dirty="0">
                <a:latin typeface="Arial" panose="020B0604020202020204" pitchFamily="34" charset="0"/>
              </a:rPr>
              <a:t>✔</a:t>
            </a:r>
            <a:r>
              <a:rPr lang="ar-EG" sz="1600" dirty="0">
                <a:latin typeface="Arial" panose="020B0604020202020204" pitchFamily="34" charset="0"/>
              </a:rPr>
              <a:t> </a:t>
            </a:r>
            <a:r>
              <a:rPr lang="en-US" sz="1600" dirty="0">
                <a:latin typeface="Arial" panose="020B0604020202020204" pitchFamily="34" charset="0"/>
              </a:rPr>
              <a:t>Handle data types</a:t>
            </a:r>
          </a:p>
          <a:p>
            <a:r>
              <a:rPr lang="en-US" sz="1600" dirty="0">
                <a:latin typeface="Arial" panose="020B0604020202020204" pitchFamily="34" charset="0"/>
              </a:rPr>
              <a:t>✔ Remove special characters</a:t>
            </a:r>
          </a:p>
          <a:p>
            <a:r>
              <a:rPr lang="en-US" sz="1600" dirty="0">
                <a:latin typeface="Arial" panose="020B0604020202020204" pitchFamily="34" charset="0"/>
              </a:rPr>
              <a:t>✔ Lowercase text</a:t>
            </a:r>
          </a:p>
          <a:p>
            <a:r>
              <a:rPr lang="en-US" sz="1600" dirty="0">
                <a:latin typeface="Arial" panose="020B0604020202020204" pitchFamily="34" charset="0"/>
              </a:rPr>
              <a:t>✔ Remove URLs</a:t>
            </a:r>
          </a:p>
          <a:p>
            <a:r>
              <a:rPr lang="en-US" sz="1600" dirty="0">
                <a:latin typeface="Arial" panose="020B0604020202020204" pitchFamily="34" charset="0"/>
              </a:rPr>
              <a:t>✔ Remove punctuation</a:t>
            </a:r>
          </a:p>
        </p:txBody>
      </p:sp>
      <p:pic>
        <p:nvPicPr>
          <p:cNvPr id="7" name="Picture Placeholder 6">
            <a:extLst>
              <a:ext uri="{FF2B5EF4-FFF2-40B4-BE49-F238E27FC236}">
                <a16:creationId xmlns:a16="http://schemas.microsoft.com/office/drawing/2014/main" id="{D5B7F2AD-5CA3-4140-95C2-6DADA392B8E2}"/>
              </a:ext>
            </a:extLst>
          </p:cNvPr>
          <p:cNvPicPr>
            <a:picLocks noGrp="1" noChangeAspect="1"/>
          </p:cNvPicPr>
          <p:nvPr>
            <p:ph type="pic" sz="quarter" idx="10"/>
          </p:nvPr>
        </p:nvPicPr>
        <p:blipFill rotWithShape="1">
          <a:blip r:embed="rId2"/>
          <a:srcRect l="-125" t="586" r="-125" b="586"/>
          <a:stretch/>
        </p:blipFill>
        <p:spPr>
          <a:xfrm>
            <a:off x="5225143" y="1589524"/>
            <a:ext cx="6966857" cy="4247362"/>
          </a:xfrm>
          <a:prstGeom prst="rect">
            <a:avLst/>
          </a:prstGeom>
        </p:spPr>
      </p:pic>
    </p:spTree>
    <p:extLst>
      <p:ext uri="{BB962C8B-B14F-4D97-AF65-F5344CB8AC3E}">
        <p14:creationId xmlns:p14="http://schemas.microsoft.com/office/powerpoint/2010/main" val="411456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72E0F67-369B-4B18-88BF-FD1E5BF63283}"/>
              </a:ext>
            </a:extLst>
          </p:cNvPr>
          <p:cNvPicPr>
            <a:picLocks noGrp="1" noChangeAspect="1"/>
          </p:cNvPicPr>
          <p:nvPr>
            <p:ph type="pic" sz="quarter" idx="10"/>
          </p:nvPr>
        </p:nvPicPr>
        <p:blipFill rotWithShape="1">
          <a:blip r:embed="rId3"/>
          <a:srcRect t="92" b="92"/>
          <a:stretch/>
        </p:blipFill>
        <p:spPr>
          <a:xfrm>
            <a:off x="838199" y="3285120"/>
            <a:ext cx="5043461" cy="2555623"/>
          </a:xfrm>
          <a:prstGeom prst="rect">
            <a:avLst/>
          </a:prstGeom>
        </p:spPr>
      </p:pic>
      <p:pic>
        <p:nvPicPr>
          <p:cNvPr id="5" name="Picture Placeholder 4">
            <a:extLst>
              <a:ext uri="{FF2B5EF4-FFF2-40B4-BE49-F238E27FC236}">
                <a16:creationId xmlns:a16="http://schemas.microsoft.com/office/drawing/2014/main" id="{10F8CF48-DA50-4934-80CF-112E02C4F216}"/>
              </a:ext>
            </a:extLst>
          </p:cNvPr>
          <p:cNvPicPr>
            <a:picLocks noGrp="1" noChangeAspect="1"/>
          </p:cNvPicPr>
          <p:nvPr>
            <p:ph type="pic" sz="quarter" idx="11"/>
          </p:nvPr>
        </p:nvPicPr>
        <p:blipFill rotWithShape="1">
          <a:blip r:embed="rId4"/>
          <a:srcRect t="-136" b="-136"/>
          <a:stretch/>
        </p:blipFill>
        <p:spPr>
          <a:xfrm>
            <a:off x="6310341" y="1557495"/>
            <a:ext cx="5294667" cy="2842352"/>
          </a:xfrm>
          <a:prstGeom prst="rect">
            <a:avLst/>
          </a:prstGeom>
        </p:spPr>
      </p:pic>
      <p:sp>
        <p:nvSpPr>
          <p:cNvPr id="4" name="Title 3">
            <a:extLst>
              <a:ext uri="{FF2B5EF4-FFF2-40B4-BE49-F238E27FC236}">
                <a16:creationId xmlns:a16="http://schemas.microsoft.com/office/drawing/2014/main" id="{12A3D099-E932-301A-BF46-FD04B70C5955}"/>
              </a:ext>
            </a:extLst>
          </p:cNvPr>
          <p:cNvSpPr>
            <a:spLocks noGrp="1"/>
          </p:cNvSpPr>
          <p:nvPr>
            <p:ph type="title"/>
          </p:nvPr>
        </p:nvSpPr>
        <p:spPr>
          <a:xfrm>
            <a:off x="652564" y="1039124"/>
            <a:ext cx="4441950" cy="978729"/>
          </a:xfrm>
        </p:spPr>
        <p:txBody>
          <a:bodyPr/>
          <a:lstStyle/>
          <a:p>
            <a:r>
              <a:rPr lang="en-US" dirty="0">
                <a:solidFill>
                  <a:srgbClr val="065B94"/>
                </a:solidFill>
              </a:rPr>
              <a:t>Exploratory Data Analysis</a:t>
            </a:r>
            <a:endParaRPr lang="en-EG" dirty="0">
              <a:solidFill>
                <a:srgbClr val="065B94"/>
              </a:solidFill>
            </a:endParaRPr>
          </a:p>
        </p:txBody>
      </p:sp>
      <p:sp>
        <p:nvSpPr>
          <p:cNvPr id="9" name="TextBox 8">
            <a:extLst>
              <a:ext uri="{FF2B5EF4-FFF2-40B4-BE49-F238E27FC236}">
                <a16:creationId xmlns:a16="http://schemas.microsoft.com/office/drawing/2014/main" id="{13AFE709-B700-0272-6060-D24C6705211E}"/>
              </a:ext>
            </a:extLst>
          </p:cNvPr>
          <p:cNvSpPr txBox="1"/>
          <p:nvPr/>
        </p:nvSpPr>
        <p:spPr>
          <a:xfrm>
            <a:off x="838199" y="2045996"/>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Correlation Matrix</a:t>
            </a:r>
          </a:p>
        </p:txBody>
      </p:sp>
      <p:sp>
        <p:nvSpPr>
          <p:cNvPr id="10" name="TextBox 9">
            <a:extLst>
              <a:ext uri="{FF2B5EF4-FFF2-40B4-BE49-F238E27FC236}">
                <a16:creationId xmlns:a16="http://schemas.microsoft.com/office/drawing/2014/main" id="{24228B61-944C-33B4-F21F-C734CA36C279}"/>
              </a:ext>
            </a:extLst>
          </p:cNvPr>
          <p:cNvSpPr txBox="1"/>
          <p:nvPr/>
        </p:nvSpPr>
        <p:spPr>
          <a:xfrm>
            <a:off x="838198" y="2384550"/>
            <a:ext cx="5229097" cy="785343"/>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dirty="0">
                <a:solidFill>
                  <a:srgbClr val="065B94"/>
                </a:solidFill>
                <a:latin typeface="Arial" panose="020B0604020202020204" pitchFamily="34" charset="0"/>
                <a:cs typeface="Segoe UI" panose="020B0502040204020203" pitchFamily="34" charset="0"/>
              </a:rPr>
              <a:t>Identifying data patterns by detecting a linear relationships between video </a:t>
            </a:r>
            <a:r>
              <a:rPr lang="en-US" sz="1600" dirty="0" err="1">
                <a:solidFill>
                  <a:srgbClr val="065B94"/>
                </a:solidFill>
                <a:latin typeface="Arial" panose="020B0604020202020204" pitchFamily="34" charset="0"/>
                <a:cs typeface="Segoe UI" panose="020B0502040204020203" pitchFamily="34" charset="0"/>
              </a:rPr>
              <a:t>views,video</a:t>
            </a:r>
            <a:r>
              <a:rPr lang="en-US" sz="1600" dirty="0">
                <a:solidFill>
                  <a:srgbClr val="065B94"/>
                </a:solidFill>
                <a:latin typeface="Arial" panose="020B0604020202020204" pitchFamily="34" charset="0"/>
                <a:cs typeface="Segoe UI" panose="020B0502040204020203" pitchFamily="34" charset="0"/>
              </a:rPr>
              <a:t> likes </a:t>
            </a:r>
          </a:p>
        </p:txBody>
      </p:sp>
      <p:sp>
        <p:nvSpPr>
          <p:cNvPr id="11" name="TextBox 10">
            <a:extLst>
              <a:ext uri="{FF2B5EF4-FFF2-40B4-BE49-F238E27FC236}">
                <a16:creationId xmlns:a16="http://schemas.microsoft.com/office/drawing/2014/main" id="{E008DAD9-18BD-C395-4AAD-3A15070ED15A}"/>
              </a:ext>
            </a:extLst>
          </p:cNvPr>
          <p:cNvSpPr txBox="1"/>
          <p:nvPr/>
        </p:nvSpPr>
        <p:spPr>
          <a:xfrm>
            <a:off x="6310341" y="4562439"/>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Scatter Plot</a:t>
            </a:r>
          </a:p>
        </p:txBody>
      </p:sp>
      <p:sp>
        <p:nvSpPr>
          <p:cNvPr id="12" name="TextBox 11">
            <a:extLst>
              <a:ext uri="{FF2B5EF4-FFF2-40B4-BE49-F238E27FC236}">
                <a16:creationId xmlns:a16="http://schemas.microsoft.com/office/drawing/2014/main" id="{EBC5507E-ED35-CDD5-4E9A-1EA8F48B791E}"/>
              </a:ext>
            </a:extLst>
          </p:cNvPr>
          <p:cNvSpPr txBox="1"/>
          <p:nvPr/>
        </p:nvSpPr>
        <p:spPr>
          <a:xfrm>
            <a:off x="6310340" y="4900993"/>
            <a:ext cx="5294667" cy="785343"/>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dirty="0">
                <a:solidFill>
                  <a:srgbClr val="065B94"/>
                </a:solidFill>
                <a:latin typeface="Arial" panose="020B0604020202020204" pitchFamily="34" charset="0"/>
                <a:cs typeface="Segoe UI" panose="020B0502040204020203" pitchFamily="34" charset="0"/>
              </a:rPr>
              <a:t>Displaying and analyzing the relationship between video views and video likes</a:t>
            </a:r>
          </a:p>
        </p:txBody>
      </p:sp>
    </p:spTree>
    <p:extLst>
      <p:ext uri="{BB962C8B-B14F-4D97-AF65-F5344CB8AC3E}">
        <p14:creationId xmlns:p14="http://schemas.microsoft.com/office/powerpoint/2010/main" val="1055023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291394DD-8847-45BB-8FB6-146A5CD73CD3}"/>
              </a:ext>
            </a:extLst>
          </p:cNvPr>
          <p:cNvPicPr>
            <a:picLocks noGrp="1" noChangeAspect="1"/>
          </p:cNvPicPr>
          <p:nvPr>
            <p:ph type="pic" sz="quarter" idx="10"/>
          </p:nvPr>
        </p:nvPicPr>
        <p:blipFill>
          <a:blip r:embed="rId2"/>
          <a:srcRect l="3649" r="3649"/>
          <a:stretch>
            <a:fillRect/>
          </a:stretch>
        </p:blipFill>
        <p:spPr>
          <a:prstGeom prst="rect">
            <a:avLst/>
          </a:prstGeom>
        </p:spPr>
      </p:pic>
      <p:sp>
        <p:nvSpPr>
          <p:cNvPr id="3" name="Title 2">
            <a:extLst>
              <a:ext uri="{FF2B5EF4-FFF2-40B4-BE49-F238E27FC236}">
                <a16:creationId xmlns:a16="http://schemas.microsoft.com/office/drawing/2014/main" id="{A93307BB-0D80-ECE3-B4AA-C80615F23984}"/>
              </a:ext>
            </a:extLst>
          </p:cNvPr>
          <p:cNvSpPr>
            <a:spLocks noGrp="1"/>
          </p:cNvSpPr>
          <p:nvPr>
            <p:ph type="title"/>
          </p:nvPr>
        </p:nvSpPr>
        <p:spPr/>
        <p:txBody>
          <a:bodyPr/>
          <a:lstStyle/>
          <a:p>
            <a:r>
              <a:rPr lang="en-US" dirty="0">
                <a:solidFill>
                  <a:srgbClr val="065B94"/>
                </a:solidFill>
              </a:rPr>
              <a:t>NLP Preprocessing</a:t>
            </a:r>
            <a:endParaRPr lang="en-EG" dirty="0">
              <a:solidFill>
                <a:srgbClr val="065B94"/>
              </a:solidFill>
            </a:endParaRPr>
          </a:p>
        </p:txBody>
      </p:sp>
      <p:sp>
        <p:nvSpPr>
          <p:cNvPr id="8" name="TextBox 7">
            <a:extLst>
              <a:ext uri="{FF2B5EF4-FFF2-40B4-BE49-F238E27FC236}">
                <a16:creationId xmlns:a16="http://schemas.microsoft.com/office/drawing/2014/main" id="{0A0CC00C-C604-4386-28A6-7117D6B9E7DB}"/>
              </a:ext>
            </a:extLst>
          </p:cNvPr>
          <p:cNvSpPr txBox="1"/>
          <p:nvPr/>
        </p:nvSpPr>
        <p:spPr>
          <a:xfrm>
            <a:off x="6096000" y="2599835"/>
            <a:ext cx="2294854"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cs typeface="Segoe UI Semibold" panose="020B0702040204020203" pitchFamily="34" charset="0"/>
              </a:rPr>
              <a:t>What we did</a:t>
            </a:r>
          </a:p>
        </p:txBody>
      </p:sp>
      <p:sp>
        <p:nvSpPr>
          <p:cNvPr id="9" name="TextBox 8">
            <a:extLst>
              <a:ext uri="{FF2B5EF4-FFF2-40B4-BE49-F238E27FC236}">
                <a16:creationId xmlns:a16="http://schemas.microsoft.com/office/drawing/2014/main" id="{C7A696BF-DCB1-1DCE-4297-6A7BEE3A0BC6}"/>
              </a:ext>
            </a:extLst>
          </p:cNvPr>
          <p:cNvSpPr txBox="1"/>
          <p:nvPr/>
        </p:nvSpPr>
        <p:spPr>
          <a:xfrm>
            <a:off x="6095999" y="2938389"/>
            <a:ext cx="5267093" cy="2092881"/>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lvl="0" eaLnBrk="0" fontAlgn="base" hangingPunct="0">
              <a:lnSpc>
                <a:spcPct val="100000"/>
              </a:lnSpc>
              <a:spcBef>
                <a:spcPts val="600"/>
              </a:spcBef>
              <a:spcAft>
                <a:spcPts val="600"/>
              </a:spcAft>
              <a:buFontTx/>
              <a:buChar char="•"/>
            </a:pPr>
            <a:r>
              <a:rPr lang="en-US" altLang="en-US" sz="1800" dirty="0">
                <a:solidFill>
                  <a:srgbClr val="065B94"/>
                </a:solidFill>
                <a:latin typeface="Arial" panose="020B0604020202020204" pitchFamily="34" charset="0"/>
              </a:rPr>
              <a:t>Tokenization </a:t>
            </a:r>
          </a:p>
          <a:p>
            <a:pPr lvl="0" eaLnBrk="0" fontAlgn="base" hangingPunct="0">
              <a:lnSpc>
                <a:spcPct val="100000"/>
              </a:lnSpc>
              <a:spcBef>
                <a:spcPts val="600"/>
              </a:spcBef>
              <a:spcAft>
                <a:spcPts val="600"/>
              </a:spcAft>
              <a:buFontTx/>
              <a:buChar char="•"/>
            </a:pPr>
            <a:r>
              <a:rPr lang="en-US" altLang="en-US" sz="1800" dirty="0" err="1">
                <a:solidFill>
                  <a:srgbClr val="065B94"/>
                </a:solidFill>
                <a:latin typeface="Arial" panose="020B0604020202020204" pitchFamily="34" charset="0"/>
              </a:rPr>
              <a:t>Stopwords</a:t>
            </a:r>
            <a:r>
              <a:rPr lang="en-US" altLang="en-US" sz="1800" dirty="0">
                <a:solidFill>
                  <a:srgbClr val="065B94"/>
                </a:solidFill>
                <a:latin typeface="Arial" panose="020B0604020202020204" pitchFamily="34" charset="0"/>
              </a:rPr>
              <a:t> Removal </a:t>
            </a:r>
          </a:p>
          <a:p>
            <a:pPr lvl="0" eaLnBrk="0" fontAlgn="base" hangingPunct="0">
              <a:lnSpc>
                <a:spcPct val="100000"/>
              </a:lnSpc>
              <a:spcBef>
                <a:spcPts val="600"/>
              </a:spcBef>
              <a:spcAft>
                <a:spcPts val="600"/>
              </a:spcAft>
              <a:buFontTx/>
              <a:buChar char="•"/>
            </a:pPr>
            <a:r>
              <a:rPr lang="en-US" altLang="en-US" sz="1800" dirty="0">
                <a:solidFill>
                  <a:srgbClr val="065B94"/>
                </a:solidFill>
                <a:latin typeface="Arial" panose="020B0604020202020204" pitchFamily="34" charset="0"/>
              </a:rPr>
              <a:t>Lemmatization </a:t>
            </a:r>
          </a:p>
          <a:p>
            <a:pPr lvl="0" eaLnBrk="0" fontAlgn="base" hangingPunct="0">
              <a:lnSpc>
                <a:spcPct val="100000"/>
              </a:lnSpc>
              <a:spcBef>
                <a:spcPts val="600"/>
              </a:spcBef>
              <a:spcAft>
                <a:spcPts val="600"/>
              </a:spcAft>
              <a:buFontTx/>
              <a:buChar char="•"/>
            </a:pPr>
            <a:r>
              <a:rPr lang="en-US" altLang="en-US" sz="1800" dirty="0">
                <a:solidFill>
                  <a:srgbClr val="065B94"/>
                </a:solidFill>
                <a:latin typeface="Arial" panose="020B0604020202020204" pitchFamily="34" charset="0"/>
              </a:rPr>
              <a:t>Regex Cleaning </a:t>
            </a:r>
          </a:p>
          <a:p>
            <a:pPr lvl="0" eaLnBrk="0" fontAlgn="base" hangingPunct="0">
              <a:lnSpc>
                <a:spcPct val="100000"/>
              </a:lnSpc>
              <a:spcBef>
                <a:spcPts val="600"/>
              </a:spcBef>
              <a:spcAft>
                <a:spcPts val="600"/>
              </a:spcAft>
              <a:buFontTx/>
              <a:buChar char="•"/>
            </a:pPr>
            <a:r>
              <a:rPr lang="en-US" altLang="en-US" sz="1800" dirty="0">
                <a:solidFill>
                  <a:srgbClr val="065B94"/>
                </a:solidFill>
                <a:latin typeface="Arial" panose="020B0604020202020204" pitchFamily="34" charset="0"/>
              </a:rPr>
              <a:t>Text Normalization </a:t>
            </a:r>
          </a:p>
        </p:txBody>
      </p:sp>
    </p:spTree>
    <p:extLst>
      <p:ext uri="{BB962C8B-B14F-4D97-AF65-F5344CB8AC3E}">
        <p14:creationId xmlns:p14="http://schemas.microsoft.com/office/powerpoint/2010/main" val="3127841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D06BFE8-E69C-20E6-2B41-DB0B2F9F114E}"/>
              </a:ext>
            </a:extLst>
          </p:cNvPr>
          <p:cNvSpPr/>
          <p:nvPr/>
        </p:nvSpPr>
        <p:spPr>
          <a:xfrm>
            <a:off x="9104081" y="1072599"/>
            <a:ext cx="2121131" cy="4247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pic>
        <p:nvPicPr>
          <p:cNvPr id="4" name="Picture Placeholder 3">
            <a:extLst>
              <a:ext uri="{FF2B5EF4-FFF2-40B4-BE49-F238E27FC236}">
                <a16:creationId xmlns:a16="http://schemas.microsoft.com/office/drawing/2014/main" id="{50F87D40-270C-4675-9802-468C812452EA}"/>
              </a:ext>
            </a:extLst>
          </p:cNvPr>
          <p:cNvPicPr>
            <a:picLocks noGrp="1" noChangeAspect="1"/>
          </p:cNvPicPr>
          <p:nvPr>
            <p:ph type="pic" sz="quarter" idx="10"/>
          </p:nvPr>
        </p:nvPicPr>
        <p:blipFill>
          <a:blip r:embed="rId2"/>
          <a:srcRect l="4044" r="4044"/>
          <a:stretch>
            <a:fillRect/>
          </a:stretch>
        </p:blipFill>
        <p:spPr>
          <a:prstGeom prst="rect">
            <a:avLst/>
          </a:prstGeom>
        </p:spPr>
      </p:pic>
      <p:sp>
        <p:nvSpPr>
          <p:cNvPr id="3" name="Title 2">
            <a:extLst>
              <a:ext uri="{FF2B5EF4-FFF2-40B4-BE49-F238E27FC236}">
                <a16:creationId xmlns:a16="http://schemas.microsoft.com/office/drawing/2014/main" id="{E6184AAA-ECF6-DA6C-15A8-8B4D6A873F04}"/>
              </a:ext>
            </a:extLst>
          </p:cNvPr>
          <p:cNvSpPr>
            <a:spLocks noGrp="1"/>
          </p:cNvSpPr>
          <p:nvPr>
            <p:ph type="title"/>
          </p:nvPr>
        </p:nvSpPr>
        <p:spPr>
          <a:xfrm>
            <a:off x="612371" y="1577096"/>
            <a:ext cx="4009871" cy="978729"/>
          </a:xfrm>
        </p:spPr>
        <p:txBody>
          <a:bodyPr/>
          <a:lstStyle/>
          <a:p>
            <a:r>
              <a:rPr lang="en-US" dirty="0">
                <a:solidFill>
                  <a:srgbClr val="065B94"/>
                </a:solidFill>
              </a:rPr>
              <a:t>Sentiment Analysis</a:t>
            </a:r>
            <a:endParaRPr lang="en-EG" dirty="0">
              <a:solidFill>
                <a:srgbClr val="065B94"/>
              </a:solidFill>
            </a:endParaRPr>
          </a:p>
        </p:txBody>
      </p:sp>
      <p:sp>
        <p:nvSpPr>
          <p:cNvPr id="7" name="TextBox 6">
            <a:extLst>
              <a:ext uri="{FF2B5EF4-FFF2-40B4-BE49-F238E27FC236}">
                <a16:creationId xmlns:a16="http://schemas.microsoft.com/office/drawing/2014/main" id="{3581C73B-330E-9B82-F69D-0BD791B89C37}"/>
              </a:ext>
            </a:extLst>
          </p:cNvPr>
          <p:cNvSpPr txBox="1"/>
          <p:nvPr/>
        </p:nvSpPr>
        <p:spPr>
          <a:xfrm>
            <a:off x="632392" y="2982455"/>
            <a:ext cx="4673307" cy="2639441"/>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dirty="0" err="1">
                <a:latin typeface="Arial" panose="020B0604020202020204" pitchFamily="34" charset="0"/>
              </a:rPr>
              <a:t>TextBlob</a:t>
            </a:r>
            <a:r>
              <a:rPr lang="en-US" sz="1600" dirty="0">
                <a:latin typeface="Arial" panose="020B0604020202020204" pitchFamily="34" charset="0"/>
              </a:rPr>
              <a:t> was used to calculate the polarity score.</a:t>
            </a:r>
          </a:p>
          <a:p>
            <a:pPr marL="285750" indent="-285750">
              <a:buFont typeface="Arial" panose="020B0604020202020204" pitchFamily="34" charset="0"/>
              <a:buChar char="•"/>
            </a:pPr>
            <a:r>
              <a:rPr lang="en-US" sz="1600" b="1" dirty="0">
                <a:latin typeface="Arial" panose="020B0604020202020204" pitchFamily="34" charset="0"/>
              </a:rPr>
              <a:t>Positive</a:t>
            </a:r>
          </a:p>
          <a:p>
            <a:pPr marL="285750" indent="-285750">
              <a:buFont typeface="Arial" panose="020B0604020202020204" pitchFamily="34" charset="0"/>
              <a:buChar char="•"/>
            </a:pPr>
            <a:r>
              <a:rPr lang="en-US" sz="1600" b="1" dirty="0">
                <a:latin typeface="Arial" panose="020B0604020202020204" pitchFamily="34" charset="0"/>
              </a:rPr>
              <a:t>Neutral</a:t>
            </a:r>
          </a:p>
          <a:p>
            <a:pPr marL="285750" indent="-285750">
              <a:buFont typeface="Arial" panose="020B0604020202020204" pitchFamily="34" charset="0"/>
              <a:buChar char="•"/>
            </a:pPr>
            <a:r>
              <a:rPr lang="en-US" sz="1600" b="1" dirty="0">
                <a:latin typeface="Arial" panose="020B0604020202020204" pitchFamily="34" charset="0"/>
              </a:rPr>
              <a:t>Negative</a:t>
            </a:r>
          </a:p>
          <a:p>
            <a:r>
              <a:rPr lang="en-US" sz="1600" dirty="0">
                <a:latin typeface="Arial" panose="020B0604020202020204" pitchFamily="34" charset="0"/>
              </a:rPr>
              <a:t>Polarity &gt; 0 → Positive</a:t>
            </a:r>
          </a:p>
          <a:p>
            <a:r>
              <a:rPr lang="en-US" sz="1600" dirty="0">
                <a:latin typeface="Arial" panose="020B0604020202020204" pitchFamily="34" charset="0"/>
              </a:rPr>
              <a:t>Polarity &lt; 0 → Negative</a:t>
            </a:r>
          </a:p>
          <a:p>
            <a:r>
              <a:rPr lang="en-US" sz="1600" dirty="0">
                <a:latin typeface="Arial" panose="020B0604020202020204" pitchFamily="34" charset="0"/>
              </a:rPr>
              <a:t>Else → Neutral</a:t>
            </a:r>
          </a:p>
        </p:txBody>
      </p:sp>
    </p:spTree>
    <p:extLst>
      <p:ext uri="{BB962C8B-B14F-4D97-AF65-F5344CB8AC3E}">
        <p14:creationId xmlns:p14="http://schemas.microsoft.com/office/powerpoint/2010/main" val="2041797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6BE89E72-5BDA-46AD-BD65-DD3DC3B1539A}"/>
              </a:ext>
            </a:extLst>
          </p:cNvPr>
          <p:cNvPicPr>
            <a:picLocks noGrp="1" noChangeAspect="1"/>
          </p:cNvPicPr>
          <p:nvPr>
            <p:ph type="pic" sz="quarter" idx="10"/>
          </p:nvPr>
        </p:nvPicPr>
        <p:blipFill rotWithShape="1">
          <a:blip r:embed="rId3"/>
          <a:srcRect l="18" t="462" r="18" b="462"/>
          <a:stretch/>
        </p:blipFill>
        <p:spPr>
          <a:xfrm>
            <a:off x="540712" y="1320323"/>
            <a:ext cx="4204740" cy="4982782"/>
          </a:xfrm>
          <a:prstGeom prst="rect">
            <a:avLst/>
          </a:prstGeom>
        </p:spPr>
      </p:pic>
      <p:sp>
        <p:nvSpPr>
          <p:cNvPr id="3" name="Title 2">
            <a:extLst>
              <a:ext uri="{FF2B5EF4-FFF2-40B4-BE49-F238E27FC236}">
                <a16:creationId xmlns:a16="http://schemas.microsoft.com/office/drawing/2014/main" id="{069BE851-8669-DFBC-3FF1-F20DA06FFE34}"/>
              </a:ext>
            </a:extLst>
          </p:cNvPr>
          <p:cNvSpPr>
            <a:spLocks noGrp="1"/>
          </p:cNvSpPr>
          <p:nvPr>
            <p:ph type="title"/>
          </p:nvPr>
        </p:nvSpPr>
        <p:spPr>
          <a:xfrm>
            <a:off x="4933162" y="1320323"/>
            <a:ext cx="3839049" cy="978729"/>
          </a:xfrm>
        </p:spPr>
        <p:txBody>
          <a:bodyPr/>
          <a:lstStyle/>
          <a:p>
            <a:r>
              <a:rPr lang="en-US" dirty="0">
                <a:solidFill>
                  <a:srgbClr val="065B94"/>
                </a:solidFill>
              </a:rPr>
              <a:t>Feature Engineering</a:t>
            </a:r>
            <a:endParaRPr lang="en-EG" dirty="0">
              <a:solidFill>
                <a:srgbClr val="065B94"/>
              </a:solidFill>
            </a:endParaRPr>
          </a:p>
        </p:txBody>
      </p:sp>
      <p:sp>
        <p:nvSpPr>
          <p:cNvPr id="8" name="TextBox 7">
            <a:extLst>
              <a:ext uri="{FF2B5EF4-FFF2-40B4-BE49-F238E27FC236}">
                <a16:creationId xmlns:a16="http://schemas.microsoft.com/office/drawing/2014/main" id="{0642437C-8F20-28E6-C293-51AA705646DA}"/>
              </a:ext>
            </a:extLst>
          </p:cNvPr>
          <p:cNvSpPr txBox="1"/>
          <p:nvPr/>
        </p:nvSpPr>
        <p:spPr>
          <a:xfrm>
            <a:off x="5352992" y="3090446"/>
            <a:ext cx="2294854" cy="646331"/>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D76BD"/>
                </a:solidFill>
                <a:latin typeface="Arial" panose="020B0604020202020204" pitchFamily="34" charset="0"/>
              </a:rPr>
              <a:t>TF-IDF Vectorization</a:t>
            </a:r>
            <a:endParaRPr lang="en-US" sz="1800" b="1" dirty="0">
              <a:solidFill>
                <a:srgbClr val="0D76BD"/>
              </a:solidFill>
              <a:latin typeface="Arial" panose="020B0604020202020204" pitchFamily="34" charset="0"/>
              <a:cs typeface="Segoe UI Semibold" panose="020B0702040204020203" pitchFamily="34" charset="0"/>
            </a:endParaRPr>
          </a:p>
        </p:txBody>
      </p:sp>
      <p:sp>
        <p:nvSpPr>
          <p:cNvPr id="9" name="TextBox 8">
            <a:extLst>
              <a:ext uri="{FF2B5EF4-FFF2-40B4-BE49-F238E27FC236}">
                <a16:creationId xmlns:a16="http://schemas.microsoft.com/office/drawing/2014/main" id="{2DD1F1F2-5223-AE6B-65DF-0221DE9E41C4}"/>
              </a:ext>
            </a:extLst>
          </p:cNvPr>
          <p:cNvSpPr txBox="1"/>
          <p:nvPr/>
        </p:nvSpPr>
        <p:spPr>
          <a:xfrm>
            <a:off x="5352991" y="3429000"/>
            <a:ext cx="5597507" cy="152984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b="1" dirty="0">
                <a:latin typeface="Arial" panose="020B0604020202020204" pitchFamily="34" charset="0"/>
              </a:rPr>
              <a:t>TF-IDF Vectorization</a:t>
            </a:r>
            <a:r>
              <a:rPr lang="en-US" sz="1600" dirty="0">
                <a:latin typeface="Arial" panose="020B0604020202020204" pitchFamily="34" charset="0"/>
              </a:rPr>
              <a:t> was used to transform text comments into numerical features by measuring the importance of each word in the dataset. These features were then used to train the Machine Learning models.</a:t>
            </a:r>
            <a:endParaRPr lang="en-US" sz="1600" dirty="0">
              <a:solidFill>
                <a:srgbClr val="065B94"/>
              </a:solidFill>
              <a:latin typeface="Arial" panose="020B0604020202020204" pitchFamily="34" charset="0"/>
              <a:cs typeface="Segoe UI" panose="020B0502040204020203" pitchFamily="34" charset="0"/>
            </a:endParaRPr>
          </a:p>
        </p:txBody>
      </p:sp>
    </p:spTree>
    <p:extLst>
      <p:ext uri="{BB962C8B-B14F-4D97-AF65-F5344CB8AC3E}">
        <p14:creationId xmlns:p14="http://schemas.microsoft.com/office/powerpoint/2010/main" val="3172006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F8423DFE-9E34-47CD-ACB0-704E2F617031}"/>
              </a:ext>
            </a:extLst>
          </p:cNvPr>
          <p:cNvPicPr>
            <a:picLocks noGrp="1" noChangeAspect="1"/>
          </p:cNvPicPr>
          <p:nvPr>
            <p:ph type="pic" sz="quarter" idx="10"/>
          </p:nvPr>
        </p:nvPicPr>
        <p:blipFill rotWithShape="1">
          <a:blip r:embed="rId2"/>
          <a:srcRect l="-142" t="-306" r="-142" b="-306"/>
          <a:stretch/>
        </p:blipFill>
        <p:spPr>
          <a:xfrm>
            <a:off x="4699721" y="1373448"/>
            <a:ext cx="3484625" cy="4323967"/>
          </a:xfrm>
          <a:prstGeom prst="rect">
            <a:avLst/>
          </a:prstGeom>
        </p:spPr>
      </p:pic>
      <p:pic>
        <p:nvPicPr>
          <p:cNvPr id="6" name="Picture Placeholder 5">
            <a:extLst>
              <a:ext uri="{FF2B5EF4-FFF2-40B4-BE49-F238E27FC236}">
                <a16:creationId xmlns:a16="http://schemas.microsoft.com/office/drawing/2014/main" id="{72B8E2D6-1FBE-4B3F-ACAF-70B21FB89868}"/>
              </a:ext>
            </a:extLst>
          </p:cNvPr>
          <p:cNvPicPr>
            <a:picLocks noGrp="1" noChangeAspect="1"/>
          </p:cNvPicPr>
          <p:nvPr>
            <p:ph type="pic" sz="quarter" idx="11"/>
          </p:nvPr>
        </p:nvPicPr>
        <p:blipFill rotWithShape="1">
          <a:blip r:embed="rId3"/>
          <a:srcRect t="-306" b="-306"/>
          <a:stretch/>
        </p:blipFill>
        <p:spPr>
          <a:xfrm>
            <a:off x="8357323" y="1373448"/>
            <a:ext cx="2970520" cy="4323967"/>
          </a:xfrm>
          <a:prstGeom prst="rect">
            <a:avLst/>
          </a:prstGeom>
        </p:spPr>
      </p:pic>
      <p:sp>
        <p:nvSpPr>
          <p:cNvPr id="4" name="Title 3">
            <a:extLst>
              <a:ext uri="{FF2B5EF4-FFF2-40B4-BE49-F238E27FC236}">
                <a16:creationId xmlns:a16="http://schemas.microsoft.com/office/drawing/2014/main" id="{D420E2A9-8CCD-DC8A-4B92-5AC934FE96BF}"/>
              </a:ext>
            </a:extLst>
          </p:cNvPr>
          <p:cNvSpPr>
            <a:spLocks noGrp="1"/>
          </p:cNvSpPr>
          <p:nvPr>
            <p:ph type="title"/>
          </p:nvPr>
        </p:nvSpPr>
        <p:spPr>
          <a:xfrm>
            <a:off x="662612" y="2095465"/>
            <a:ext cx="3758662" cy="1421928"/>
          </a:xfrm>
        </p:spPr>
        <p:txBody>
          <a:bodyPr>
            <a:spAutoFit/>
          </a:bodyPr>
          <a:lstStyle/>
          <a:p>
            <a:r>
              <a:rPr lang="en-US" dirty="0">
                <a:solidFill>
                  <a:srgbClr val="065B94"/>
                </a:solidFill>
              </a:rPr>
              <a:t>Machine Learning Models</a:t>
            </a:r>
            <a:endParaRPr lang="en-EG" dirty="0">
              <a:solidFill>
                <a:srgbClr val="065B94"/>
              </a:solidFill>
            </a:endParaRPr>
          </a:p>
        </p:txBody>
      </p:sp>
      <p:sp>
        <p:nvSpPr>
          <p:cNvPr id="7" name="TextBox 6">
            <a:extLst>
              <a:ext uri="{FF2B5EF4-FFF2-40B4-BE49-F238E27FC236}">
                <a16:creationId xmlns:a16="http://schemas.microsoft.com/office/drawing/2014/main" id="{C3B6FB9E-2CE8-8ADA-BDF5-32C5C5E0620B}"/>
              </a:ext>
            </a:extLst>
          </p:cNvPr>
          <p:cNvSpPr txBox="1"/>
          <p:nvPr/>
        </p:nvSpPr>
        <p:spPr>
          <a:xfrm>
            <a:off x="681593" y="3689612"/>
            <a:ext cx="3931639" cy="1900777"/>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marL="285750" indent="-285750">
              <a:buFont typeface="Arial" panose="020B0604020202020204" pitchFamily="34" charset="0"/>
              <a:buChar char="•"/>
            </a:pPr>
            <a:r>
              <a:rPr lang="en-US" sz="1600" dirty="0">
                <a:latin typeface="Arial" panose="020B0604020202020204" pitchFamily="34" charset="0"/>
              </a:rPr>
              <a:t>Logistic Regression </a:t>
            </a:r>
          </a:p>
          <a:p>
            <a:pPr marL="285750" indent="-285750">
              <a:buFont typeface="Arial" panose="020B0604020202020204" pitchFamily="34" charset="0"/>
              <a:buChar char="•"/>
            </a:pPr>
            <a:r>
              <a:rPr lang="en-US" sz="1600" dirty="0">
                <a:latin typeface="Arial" panose="020B0604020202020204" pitchFamily="34" charset="0"/>
              </a:rPr>
              <a:t>Naive Bayes </a:t>
            </a:r>
          </a:p>
          <a:p>
            <a:pPr marL="285750" indent="-285750">
              <a:buFont typeface="Arial" panose="020B0604020202020204" pitchFamily="34" charset="0"/>
              <a:buChar char="•"/>
            </a:pPr>
            <a:r>
              <a:rPr lang="en-US" sz="1600" dirty="0">
                <a:latin typeface="Arial" panose="020B0604020202020204" pitchFamily="34" charset="0"/>
              </a:rPr>
              <a:t>SVM </a:t>
            </a:r>
          </a:p>
          <a:p>
            <a:pPr marL="285750" indent="-285750">
              <a:buFont typeface="Arial" panose="020B0604020202020204" pitchFamily="34" charset="0"/>
              <a:buChar char="•"/>
            </a:pPr>
            <a:r>
              <a:rPr lang="en-US" sz="1600" dirty="0">
                <a:latin typeface="Arial" panose="020B0604020202020204" pitchFamily="34" charset="0"/>
              </a:rPr>
              <a:t>Decision Tree </a:t>
            </a:r>
          </a:p>
          <a:p>
            <a:pPr marL="285750" indent="-285750">
              <a:buFont typeface="Arial" panose="020B0604020202020204" pitchFamily="34" charset="0"/>
              <a:buChar char="•"/>
            </a:pPr>
            <a:r>
              <a:rPr lang="en-US" sz="1600" dirty="0">
                <a:latin typeface="Arial" panose="020B0604020202020204" pitchFamily="34" charset="0"/>
              </a:rPr>
              <a:t>Random Forest </a:t>
            </a:r>
          </a:p>
        </p:txBody>
      </p:sp>
    </p:spTree>
    <p:extLst>
      <p:ext uri="{BB962C8B-B14F-4D97-AF65-F5344CB8AC3E}">
        <p14:creationId xmlns:p14="http://schemas.microsoft.com/office/powerpoint/2010/main" val="1125402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949053C7-69E4-468B-B772-57334DD18B51}"/>
              </a:ext>
            </a:extLst>
          </p:cNvPr>
          <p:cNvPicPr>
            <a:picLocks noGrp="1" noChangeAspect="1"/>
          </p:cNvPicPr>
          <p:nvPr>
            <p:ph type="pic" sz="quarter" idx="10"/>
          </p:nvPr>
        </p:nvPicPr>
        <p:blipFill rotWithShape="1">
          <a:blip r:embed="rId3"/>
          <a:srcRect l="628" t="304" r="628" b="304"/>
          <a:stretch/>
        </p:blipFill>
        <p:spPr>
          <a:xfrm>
            <a:off x="2078038" y="3198813"/>
            <a:ext cx="8035925" cy="2908300"/>
          </a:xfrm>
          <a:prstGeom prst="rect">
            <a:avLst/>
          </a:prstGeom>
        </p:spPr>
      </p:pic>
      <p:sp>
        <p:nvSpPr>
          <p:cNvPr id="3" name="Title 2">
            <a:extLst>
              <a:ext uri="{FF2B5EF4-FFF2-40B4-BE49-F238E27FC236}">
                <a16:creationId xmlns:a16="http://schemas.microsoft.com/office/drawing/2014/main" id="{3E8016C7-CF03-F004-6EEF-46CD4567CEE6}"/>
              </a:ext>
            </a:extLst>
          </p:cNvPr>
          <p:cNvSpPr>
            <a:spLocks noGrp="1"/>
          </p:cNvSpPr>
          <p:nvPr>
            <p:ph type="title"/>
          </p:nvPr>
        </p:nvSpPr>
        <p:spPr>
          <a:xfrm>
            <a:off x="652564" y="1253302"/>
            <a:ext cx="10515600" cy="535531"/>
          </a:xfrm>
        </p:spPr>
        <p:txBody>
          <a:bodyPr>
            <a:spAutoFit/>
          </a:bodyPr>
          <a:lstStyle/>
          <a:p>
            <a:r>
              <a:rPr lang="en-US" dirty="0">
                <a:solidFill>
                  <a:srgbClr val="065B94"/>
                </a:solidFill>
              </a:rPr>
              <a:t>Model Comparison</a:t>
            </a:r>
            <a:endParaRPr lang="en-EG" dirty="0">
              <a:solidFill>
                <a:srgbClr val="065B94"/>
              </a:solidFill>
            </a:endParaRPr>
          </a:p>
        </p:txBody>
      </p:sp>
      <p:sp>
        <p:nvSpPr>
          <p:cNvPr id="7" name="TextBox 6">
            <a:extLst>
              <a:ext uri="{FF2B5EF4-FFF2-40B4-BE49-F238E27FC236}">
                <a16:creationId xmlns:a16="http://schemas.microsoft.com/office/drawing/2014/main" id="{C71BC6FE-ED0A-9C03-1D39-92956056C9AF}"/>
              </a:ext>
            </a:extLst>
          </p:cNvPr>
          <p:cNvSpPr txBox="1"/>
          <p:nvPr/>
        </p:nvSpPr>
        <p:spPr>
          <a:xfrm>
            <a:off x="652564" y="1858429"/>
            <a:ext cx="10431748" cy="1261627"/>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dirty="0">
                <a:latin typeface="Arial" panose="020B0604020202020204" pitchFamily="34" charset="0"/>
              </a:rPr>
              <a:t>Five Machine Learning Models were trained and evaluated using the test dataset. Their performance was compared based on the Accuracy metric. Among all Models, </a:t>
            </a:r>
            <a:r>
              <a:rPr lang="en-US" b="1" dirty="0">
                <a:latin typeface="Arial" panose="020B0604020202020204" pitchFamily="34" charset="0"/>
              </a:rPr>
              <a:t>Linear SVM</a:t>
            </a:r>
            <a:r>
              <a:rPr lang="en-US" dirty="0">
                <a:latin typeface="Arial" panose="020B0604020202020204" pitchFamily="34" charset="0"/>
              </a:rPr>
              <a:t> achieved the highest accuracy 80.43%, demonstrating the best overall performance for this sentiment analysis task. It was followed by </a:t>
            </a:r>
            <a:r>
              <a:rPr lang="en-US" b="1" dirty="0">
                <a:latin typeface="Arial" panose="020B0604020202020204" pitchFamily="34" charset="0"/>
              </a:rPr>
              <a:t>Decision Tree</a:t>
            </a:r>
            <a:r>
              <a:rPr lang="ar-EG" b="1" dirty="0">
                <a:latin typeface="Arial" panose="020B0604020202020204" pitchFamily="34" charset="0"/>
              </a:rPr>
              <a:t> </a:t>
            </a:r>
            <a:r>
              <a:rPr lang="en-US" dirty="0">
                <a:latin typeface="Arial" panose="020B0604020202020204" pitchFamily="34" charset="0"/>
              </a:rPr>
              <a:t>77.75%, </a:t>
            </a:r>
            <a:r>
              <a:rPr lang="en-US" b="1" dirty="0">
                <a:latin typeface="Arial" panose="020B0604020202020204" pitchFamily="34" charset="0"/>
              </a:rPr>
              <a:t>Random Forest</a:t>
            </a:r>
            <a:r>
              <a:rPr lang="ar-EG" b="1" dirty="0">
                <a:latin typeface="Arial" panose="020B0604020202020204" pitchFamily="34" charset="0"/>
              </a:rPr>
              <a:t> </a:t>
            </a:r>
            <a:r>
              <a:rPr lang="en-US" dirty="0">
                <a:latin typeface="Arial" panose="020B0604020202020204" pitchFamily="34" charset="0"/>
              </a:rPr>
              <a:t>76.41%, </a:t>
            </a:r>
            <a:r>
              <a:rPr lang="en-US" b="1" dirty="0">
                <a:latin typeface="Arial" panose="020B0604020202020204" pitchFamily="34" charset="0"/>
              </a:rPr>
              <a:t>Logistic Regression</a:t>
            </a:r>
            <a:r>
              <a:rPr lang="ar-EG" b="1" dirty="0">
                <a:latin typeface="Arial" panose="020B0604020202020204" pitchFamily="34" charset="0"/>
              </a:rPr>
              <a:t> </a:t>
            </a:r>
            <a:r>
              <a:rPr lang="en-US" dirty="0">
                <a:latin typeface="Arial" panose="020B0604020202020204" pitchFamily="34" charset="0"/>
              </a:rPr>
              <a:t>72.65%, and </a:t>
            </a:r>
            <a:r>
              <a:rPr lang="en-US" b="1" dirty="0">
                <a:latin typeface="Arial" panose="020B0604020202020204" pitchFamily="34" charset="0"/>
              </a:rPr>
              <a:t>Naive Bayes</a:t>
            </a:r>
            <a:r>
              <a:rPr lang="ar-EG" b="1" dirty="0">
                <a:latin typeface="Arial" panose="020B0604020202020204" pitchFamily="34" charset="0"/>
              </a:rPr>
              <a:t> </a:t>
            </a:r>
            <a:r>
              <a:rPr lang="en-US" dirty="0">
                <a:latin typeface="Arial" panose="020B0604020202020204" pitchFamily="34" charset="0"/>
              </a:rPr>
              <a:t>67.83%. Therefore, the </a:t>
            </a:r>
            <a:r>
              <a:rPr lang="en-US" b="1" dirty="0">
                <a:latin typeface="Arial" panose="020B0604020202020204" pitchFamily="34" charset="0"/>
              </a:rPr>
              <a:t>Linear SVM</a:t>
            </a:r>
            <a:r>
              <a:rPr lang="en-US" dirty="0">
                <a:latin typeface="Arial" panose="020B0604020202020204" pitchFamily="34" charset="0"/>
              </a:rPr>
              <a:t> model was selected as the </a:t>
            </a:r>
            <a:r>
              <a:rPr lang="en-US" i="1" dirty="0">
                <a:latin typeface="Arial" panose="020B0604020202020204" pitchFamily="34" charset="0"/>
              </a:rPr>
              <a:t>Final Model</a:t>
            </a:r>
            <a:r>
              <a:rPr lang="en-US" dirty="0">
                <a:latin typeface="Arial" panose="020B0604020202020204" pitchFamily="34" charset="0"/>
              </a:rPr>
              <a:t> due to its superior classification performance</a:t>
            </a:r>
          </a:p>
        </p:txBody>
      </p:sp>
    </p:spTree>
    <p:extLst>
      <p:ext uri="{BB962C8B-B14F-4D97-AF65-F5344CB8AC3E}">
        <p14:creationId xmlns:p14="http://schemas.microsoft.com/office/powerpoint/2010/main" val="4169903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EEA71F6-615C-4BE8-BDD8-61C72F30604E}"/>
              </a:ext>
            </a:extLst>
          </p:cNvPr>
          <p:cNvPicPr>
            <a:picLocks noGrp="1" noChangeAspect="1"/>
          </p:cNvPicPr>
          <p:nvPr>
            <p:ph type="pic" sz="quarter" idx="10"/>
          </p:nvPr>
        </p:nvPicPr>
        <p:blipFill>
          <a:blip r:embed="rId3"/>
          <a:srcRect l="7005" r="7005"/>
          <a:stretch>
            <a:fillRect/>
          </a:stretch>
        </p:blipFill>
        <p:spPr>
          <a:prstGeom prst="rect">
            <a:avLst/>
          </a:prstGeom>
        </p:spPr>
      </p:pic>
      <p:sp>
        <p:nvSpPr>
          <p:cNvPr id="3" name="Title 2">
            <a:extLst>
              <a:ext uri="{FF2B5EF4-FFF2-40B4-BE49-F238E27FC236}">
                <a16:creationId xmlns:a16="http://schemas.microsoft.com/office/drawing/2014/main" id="{6DDFA90E-9E1C-4C7F-3466-7FDC67788B06}"/>
              </a:ext>
            </a:extLst>
          </p:cNvPr>
          <p:cNvSpPr>
            <a:spLocks noGrp="1"/>
          </p:cNvSpPr>
          <p:nvPr>
            <p:ph type="title"/>
          </p:nvPr>
        </p:nvSpPr>
        <p:spPr/>
        <p:txBody>
          <a:bodyPr/>
          <a:lstStyle/>
          <a:p>
            <a:r>
              <a:rPr lang="en-US" dirty="0">
                <a:solidFill>
                  <a:srgbClr val="065B94"/>
                </a:solidFill>
              </a:rPr>
              <a:t>Model Test</a:t>
            </a:r>
            <a:endParaRPr lang="en-EG" dirty="0">
              <a:solidFill>
                <a:srgbClr val="065B94"/>
              </a:solidFill>
            </a:endParaRPr>
          </a:p>
        </p:txBody>
      </p:sp>
      <p:sp>
        <p:nvSpPr>
          <p:cNvPr id="4" name="TextBox 3">
            <a:extLst>
              <a:ext uri="{FF2B5EF4-FFF2-40B4-BE49-F238E27FC236}">
                <a16:creationId xmlns:a16="http://schemas.microsoft.com/office/drawing/2014/main" id="{93A4E1B2-6A15-658E-6ED2-55D7EC496635}"/>
              </a:ext>
            </a:extLst>
          </p:cNvPr>
          <p:cNvSpPr txBox="1"/>
          <p:nvPr/>
        </p:nvSpPr>
        <p:spPr>
          <a:xfrm>
            <a:off x="3982509" y="2603859"/>
            <a:ext cx="7659865" cy="2268506"/>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600" dirty="0">
                <a:latin typeface="Arial" panose="020B0604020202020204" pitchFamily="34" charset="0"/>
              </a:rPr>
              <a:t>"After training and evaluating our Machine Learning model, we performed a final test using new comments that the model had never seen before. The purpose was to verify how well the model generalizes to unseen data. We entered different comments manually, and the system first applied the same preprocessing steps used during training, such as text cleaning and normalization. Then, the processed text was passed to the trained model to predict the sentiment."</a:t>
            </a:r>
            <a:endParaRPr lang="en-US" sz="1600" dirty="0">
              <a:solidFill>
                <a:srgbClr val="065B94"/>
              </a:solidFill>
              <a:latin typeface="Arial" panose="020B0604020202020204" pitchFamily="34" charset="0"/>
              <a:cs typeface="Segoe UI" panose="020B0502040204020203" pitchFamily="34" charset="0"/>
            </a:endParaRPr>
          </a:p>
        </p:txBody>
      </p:sp>
    </p:spTree>
    <p:extLst>
      <p:ext uri="{BB962C8B-B14F-4D97-AF65-F5344CB8AC3E}">
        <p14:creationId xmlns:p14="http://schemas.microsoft.com/office/powerpoint/2010/main" val="3849070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A0040F-6083-1E47-3F80-A0ECF81CBEEF}"/>
              </a:ext>
            </a:extLst>
          </p:cNvPr>
          <p:cNvSpPr>
            <a:spLocks noGrp="1"/>
          </p:cNvSpPr>
          <p:nvPr>
            <p:ph type="title"/>
          </p:nvPr>
        </p:nvSpPr>
        <p:spPr/>
        <p:txBody>
          <a:bodyPr/>
          <a:lstStyle/>
          <a:p>
            <a:r>
              <a:rPr lang="en-US" dirty="0">
                <a:solidFill>
                  <a:srgbClr val="065B94"/>
                </a:solidFill>
              </a:rPr>
              <a:t>Deployment</a:t>
            </a:r>
            <a:endParaRPr lang="en-EG" dirty="0">
              <a:solidFill>
                <a:srgbClr val="065B94"/>
              </a:solidFill>
            </a:endParaRPr>
          </a:p>
        </p:txBody>
      </p:sp>
      <p:sp>
        <p:nvSpPr>
          <p:cNvPr id="5" name="TextBox 4">
            <a:extLst>
              <a:ext uri="{FF2B5EF4-FFF2-40B4-BE49-F238E27FC236}">
                <a16:creationId xmlns:a16="http://schemas.microsoft.com/office/drawing/2014/main" id="{555A973B-70B5-D69F-4B15-ED3A028D7963}"/>
              </a:ext>
            </a:extLst>
          </p:cNvPr>
          <p:cNvSpPr txBox="1"/>
          <p:nvPr/>
        </p:nvSpPr>
        <p:spPr>
          <a:xfrm>
            <a:off x="5238278" y="1045357"/>
            <a:ext cx="5929886" cy="5324535"/>
          </a:xfrm>
          <a:prstGeom prst="rect">
            <a:avLst/>
          </a:prstGeom>
          <a:noFill/>
        </p:spPr>
        <p:txBody>
          <a:bodyPr wrap="square" rtlCol="0">
            <a:spAutoFit/>
          </a:bodyPr>
          <a:lstStyle>
            <a:defPPr>
              <a:defRPr lang="en-US"/>
            </a:defPPr>
            <a:lvl1pPr>
              <a:lnSpc>
                <a:spcPct val="100000"/>
              </a:lnSpc>
              <a:defRPr sz="1600" b="1">
                <a:solidFill>
                  <a:schemeClr val="tx2"/>
                </a:solidFill>
                <a:latin typeface="Inter" panose="02000503000000020004" pitchFamily="2" charset="0"/>
              </a:defRPr>
            </a:lvl1pPr>
          </a:lstStyle>
          <a:p>
            <a:r>
              <a:rPr lang="en-US" sz="2800" dirty="0"/>
              <a:t>System Overview:</a:t>
            </a:r>
            <a:endParaRPr lang="ar-EG" sz="2800" dirty="0"/>
          </a:p>
          <a:p>
            <a:r>
              <a:rPr lang="en-US" sz="1800" dirty="0"/>
              <a:t> </a:t>
            </a:r>
            <a:r>
              <a:rPr lang="en-US" sz="2400" dirty="0">
                <a:latin typeface="Baskerville Old Face" panose="02020602080505020303" pitchFamily="18" charset="0"/>
              </a:rPr>
              <a:t>This user interface serves as an AI-Powered Comment Analyzer designed to perform sentiment analysis on YouTube comments. By leveraging a trained Linear SVM (Support Vector Machine) machine learning model, the application classifies viewer input, providing real-time insights into user sentiment with an intuitive and interactive layout. Developed the application using </a:t>
            </a:r>
            <a:r>
              <a:rPr lang="en-US" sz="2400" dirty="0" err="1">
                <a:latin typeface="Baskerville Old Face" panose="02020602080505020303" pitchFamily="18" charset="0"/>
              </a:rPr>
              <a:t>Streamlit.Loaded</a:t>
            </a:r>
            <a:r>
              <a:rPr lang="en-US" sz="2400" dirty="0">
                <a:latin typeface="Baskerville Old Face" panose="02020602080505020303" pitchFamily="18" charset="0"/>
              </a:rPr>
              <a:t> the trained Linear SVM </a:t>
            </a:r>
            <a:r>
              <a:rPr lang="en-US" sz="2400" dirty="0" err="1">
                <a:latin typeface="Baskerville Old Face" panose="02020602080505020303" pitchFamily="18" charset="0"/>
              </a:rPr>
              <a:t>model.Applied</a:t>
            </a:r>
            <a:r>
              <a:rPr lang="en-US" sz="2400" dirty="0">
                <a:latin typeface="Baskerville Old Face" panose="02020602080505020303" pitchFamily="18" charset="0"/>
              </a:rPr>
              <a:t> Text Preprocessing and TF-</a:t>
            </a:r>
            <a:r>
              <a:rPr lang="en-US" sz="2400" dirty="0" err="1">
                <a:latin typeface="Baskerville Old Face" panose="02020602080505020303" pitchFamily="18" charset="0"/>
              </a:rPr>
              <a:t>IDF.Predicted</a:t>
            </a:r>
            <a:r>
              <a:rPr lang="en-US" sz="2400" dirty="0">
                <a:latin typeface="Baskerville Old Face" panose="02020602080505020303" pitchFamily="18" charset="0"/>
              </a:rPr>
              <a:t> the sentiment of YouTube </a:t>
            </a:r>
            <a:r>
              <a:rPr lang="en-US" sz="2400" dirty="0" err="1">
                <a:latin typeface="Baskerville Old Face" panose="02020602080505020303" pitchFamily="18" charset="0"/>
              </a:rPr>
              <a:t>comments.Displayed</a:t>
            </a:r>
            <a:r>
              <a:rPr lang="en-US" sz="2400" dirty="0">
                <a:latin typeface="Baskerville Old Face" panose="02020602080505020303" pitchFamily="18" charset="0"/>
              </a:rPr>
              <a:t> the result in a simple and interactive interface</a:t>
            </a:r>
            <a:endParaRPr lang="en-US" sz="2400" dirty="0">
              <a:solidFill>
                <a:srgbClr val="065B94"/>
              </a:solidFill>
              <a:latin typeface="Baskerville Old Face" panose="02020602080505020303" pitchFamily="18" charset="0"/>
              <a:cs typeface="Segoe UI Semibold" panose="020B0702040204020203" pitchFamily="34" charset="0"/>
            </a:endParaRPr>
          </a:p>
        </p:txBody>
      </p:sp>
      <p:pic>
        <p:nvPicPr>
          <p:cNvPr id="13" name="Picture 12">
            <a:extLst>
              <a:ext uri="{FF2B5EF4-FFF2-40B4-BE49-F238E27FC236}">
                <a16:creationId xmlns:a16="http://schemas.microsoft.com/office/drawing/2014/main" id="{FB067BE1-9F03-8F01-2310-E462F8A74EEF}"/>
              </a:ext>
            </a:extLst>
          </p:cNvPr>
          <p:cNvPicPr>
            <a:picLocks noChangeAspect="1"/>
          </p:cNvPicPr>
          <p:nvPr/>
        </p:nvPicPr>
        <p:blipFill>
          <a:blip r:embed="rId3"/>
          <a:stretch>
            <a:fillRect/>
          </a:stretch>
        </p:blipFill>
        <p:spPr>
          <a:xfrm>
            <a:off x="1" y="1972967"/>
            <a:ext cx="5001960" cy="3469317"/>
          </a:xfrm>
          <a:prstGeom prst="rect">
            <a:avLst/>
          </a:prstGeom>
        </p:spPr>
      </p:pic>
    </p:spTree>
    <p:extLst>
      <p:ext uri="{BB962C8B-B14F-4D97-AF65-F5344CB8AC3E}">
        <p14:creationId xmlns:p14="http://schemas.microsoft.com/office/powerpoint/2010/main" val="809697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863FBD1-207D-F789-6A53-04E07F8439BB}"/>
              </a:ext>
            </a:extLst>
          </p:cNvPr>
          <p:cNvSpPr txBox="1"/>
          <p:nvPr/>
        </p:nvSpPr>
        <p:spPr>
          <a:xfrm>
            <a:off x="838201" y="3993049"/>
            <a:ext cx="4853214" cy="1446550"/>
          </a:xfrm>
          <a:prstGeom prst="rect">
            <a:avLst/>
          </a:prstGeom>
          <a:noFill/>
        </p:spPr>
        <p:txBody>
          <a:bodyPr wrap="square" rtlCol="0">
            <a:spAutoFit/>
          </a:bodyPr>
          <a:lstStyle>
            <a:defPPr>
              <a:defRPr lang="en-US"/>
            </a:defPPr>
            <a:lvl1pPr>
              <a:defRPr sz="4400" b="0">
                <a:solidFill>
                  <a:schemeClr val="tx2"/>
                </a:solidFill>
                <a:latin typeface="Playfair Display" pitchFamily="2" charset="0"/>
              </a:defRPr>
            </a:lvl1pPr>
          </a:lstStyle>
          <a:p>
            <a:r>
              <a:rPr lang="en-US" dirty="0">
                <a:latin typeface="Arial Rounded MT Bold" panose="020F0704030504030204" pitchFamily="34" charset="0"/>
              </a:rPr>
              <a:t>Ethical Considerations</a:t>
            </a:r>
          </a:p>
        </p:txBody>
      </p:sp>
      <p:sp>
        <p:nvSpPr>
          <p:cNvPr id="4" name="TextBox 3">
            <a:extLst>
              <a:ext uri="{FF2B5EF4-FFF2-40B4-BE49-F238E27FC236}">
                <a16:creationId xmlns:a16="http://schemas.microsoft.com/office/drawing/2014/main" id="{67CEC4A0-EFF8-686B-CCF8-50318789DC31}"/>
              </a:ext>
            </a:extLst>
          </p:cNvPr>
          <p:cNvSpPr txBox="1"/>
          <p:nvPr/>
        </p:nvSpPr>
        <p:spPr>
          <a:xfrm>
            <a:off x="838200" y="5440270"/>
            <a:ext cx="2129641" cy="292388"/>
          </a:xfrm>
          <a:prstGeom prst="rect">
            <a:avLst/>
          </a:prstGeom>
          <a:noFill/>
        </p:spPr>
        <p:txBody>
          <a:bodyPr wrap="square" rtlCol="0">
            <a:spAutoFit/>
          </a:bodyPr>
          <a:lstStyle>
            <a:defPPr>
              <a:defRPr lang="en-US"/>
            </a:defPPr>
            <a:lvl1pPr>
              <a:defRPr sz="1300">
                <a:solidFill>
                  <a:schemeClr val="tx2"/>
                </a:solidFill>
                <a:latin typeface="Courgette" panose="02000603070400060004" pitchFamily="2" charset="0"/>
              </a:defRPr>
            </a:lvl1pPr>
          </a:lstStyle>
          <a:p>
            <a:r>
              <a:rPr lang="en-US" dirty="0">
                <a:latin typeface="Segoe UI Black" panose="020B0A02040204020203" pitchFamily="34" charset="0"/>
              </a:rPr>
              <a:t>Scholar Research</a:t>
            </a:r>
          </a:p>
        </p:txBody>
      </p:sp>
      <p:pic>
        <p:nvPicPr>
          <p:cNvPr id="5" name="Picture Placeholder 4">
            <a:extLst>
              <a:ext uri="{FF2B5EF4-FFF2-40B4-BE49-F238E27FC236}">
                <a16:creationId xmlns:a16="http://schemas.microsoft.com/office/drawing/2014/main" id="{195AD846-0B19-4DD9-8316-DD6D6C696243}"/>
              </a:ext>
            </a:extLst>
          </p:cNvPr>
          <p:cNvPicPr>
            <a:picLocks noGrp="1" noChangeAspect="1"/>
          </p:cNvPicPr>
          <p:nvPr>
            <p:ph type="pic" sz="quarter" idx="10"/>
          </p:nvPr>
        </p:nvPicPr>
        <p:blipFill rotWithShape="1">
          <a:blip r:embed="rId2"/>
          <a:srcRect l="-6" t="-468" r="-6" b="-468"/>
          <a:stretch/>
        </p:blipFill>
        <p:spPr>
          <a:xfrm>
            <a:off x="569913" y="2111375"/>
            <a:ext cx="10242550" cy="3968750"/>
          </a:xfrm>
        </p:spPr>
      </p:pic>
      <p:sp>
        <p:nvSpPr>
          <p:cNvPr id="6" name="TextBox 5">
            <a:extLst>
              <a:ext uri="{FF2B5EF4-FFF2-40B4-BE49-F238E27FC236}">
                <a16:creationId xmlns:a16="http://schemas.microsoft.com/office/drawing/2014/main" id="{238B03F6-0F0B-4594-8F12-72BBE7A55C4E}"/>
              </a:ext>
            </a:extLst>
          </p:cNvPr>
          <p:cNvSpPr txBox="1"/>
          <p:nvPr/>
        </p:nvSpPr>
        <p:spPr>
          <a:xfrm>
            <a:off x="982494" y="1235413"/>
            <a:ext cx="6478621" cy="646331"/>
          </a:xfrm>
          <a:prstGeom prst="rect">
            <a:avLst/>
          </a:prstGeom>
          <a:noFill/>
        </p:spPr>
        <p:txBody>
          <a:bodyPr wrap="square" rtlCol="0">
            <a:spAutoFit/>
          </a:bodyPr>
          <a:lstStyle/>
          <a:p>
            <a:r>
              <a:rPr lang="en-US" sz="3600" b="1" dirty="0">
                <a:solidFill>
                  <a:srgbClr val="065B94"/>
                </a:solidFill>
              </a:rPr>
              <a:t>Overview</a:t>
            </a:r>
          </a:p>
        </p:txBody>
      </p:sp>
    </p:spTree>
    <p:extLst>
      <p:ext uri="{BB962C8B-B14F-4D97-AF65-F5344CB8AC3E}">
        <p14:creationId xmlns:p14="http://schemas.microsoft.com/office/powerpoint/2010/main" val="2693654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863FBD1-207D-F789-6A53-04E07F8439BB}"/>
              </a:ext>
            </a:extLst>
          </p:cNvPr>
          <p:cNvSpPr txBox="1"/>
          <p:nvPr/>
        </p:nvSpPr>
        <p:spPr>
          <a:xfrm>
            <a:off x="838201" y="3993049"/>
            <a:ext cx="4853214" cy="1446550"/>
          </a:xfrm>
          <a:prstGeom prst="rect">
            <a:avLst/>
          </a:prstGeom>
          <a:noFill/>
        </p:spPr>
        <p:txBody>
          <a:bodyPr wrap="square" rtlCol="0">
            <a:spAutoFit/>
          </a:bodyPr>
          <a:lstStyle>
            <a:defPPr>
              <a:defRPr lang="en-US"/>
            </a:defPPr>
            <a:lvl1pPr>
              <a:defRPr sz="4400" b="0">
                <a:solidFill>
                  <a:schemeClr val="tx2"/>
                </a:solidFill>
                <a:latin typeface="Playfair Display" pitchFamily="2" charset="0"/>
              </a:defRPr>
            </a:lvl1pPr>
          </a:lstStyle>
          <a:p>
            <a:r>
              <a:rPr lang="en-US" dirty="0">
                <a:latin typeface="Arial Rounded MT Bold" panose="020F0704030504030204" pitchFamily="34" charset="0"/>
              </a:rPr>
              <a:t>Ethical Considerations</a:t>
            </a:r>
          </a:p>
        </p:txBody>
      </p:sp>
      <p:sp>
        <p:nvSpPr>
          <p:cNvPr id="4" name="TextBox 3">
            <a:extLst>
              <a:ext uri="{FF2B5EF4-FFF2-40B4-BE49-F238E27FC236}">
                <a16:creationId xmlns:a16="http://schemas.microsoft.com/office/drawing/2014/main" id="{67CEC4A0-EFF8-686B-CCF8-50318789DC31}"/>
              </a:ext>
            </a:extLst>
          </p:cNvPr>
          <p:cNvSpPr txBox="1"/>
          <p:nvPr/>
        </p:nvSpPr>
        <p:spPr>
          <a:xfrm>
            <a:off x="838200" y="5440270"/>
            <a:ext cx="2129641" cy="292388"/>
          </a:xfrm>
          <a:prstGeom prst="rect">
            <a:avLst/>
          </a:prstGeom>
          <a:noFill/>
        </p:spPr>
        <p:txBody>
          <a:bodyPr wrap="square" rtlCol="0">
            <a:spAutoFit/>
          </a:bodyPr>
          <a:lstStyle>
            <a:defPPr>
              <a:defRPr lang="en-US"/>
            </a:defPPr>
            <a:lvl1pPr>
              <a:defRPr sz="1300">
                <a:solidFill>
                  <a:schemeClr val="tx2"/>
                </a:solidFill>
                <a:latin typeface="Courgette" panose="02000603070400060004" pitchFamily="2" charset="0"/>
              </a:defRPr>
            </a:lvl1pPr>
          </a:lstStyle>
          <a:p>
            <a:r>
              <a:rPr lang="en-US" dirty="0">
                <a:latin typeface="Segoe UI Black" panose="020B0A02040204020203" pitchFamily="34" charset="0"/>
              </a:rPr>
              <a:t>Scholar Research</a:t>
            </a:r>
          </a:p>
        </p:txBody>
      </p:sp>
      <p:sp>
        <p:nvSpPr>
          <p:cNvPr id="6" name="TextBox 5">
            <a:extLst>
              <a:ext uri="{FF2B5EF4-FFF2-40B4-BE49-F238E27FC236}">
                <a16:creationId xmlns:a16="http://schemas.microsoft.com/office/drawing/2014/main" id="{238B03F6-0F0B-4594-8F12-72BBE7A55C4E}"/>
              </a:ext>
            </a:extLst>
          </p:cNvPr>
          <p:cNvSpPr txBox="1"/>
          <p:nvPr/>
        </p:nvSpPr>
        <p:spPr>
          <a:xfrm>
            <a:off x="982494" y="1235413"/>
            <a:ext cx="6478621" cy="646331"/>
          </a:xfrm>
          <a:prstGeom prst="rect">
            <a:avLst/>
          </a:prstGeom>
          <a:noFill/>
        </p:spPr>
        <p:txBody>
          <a:bodyPr wrap="square" rtlCol="0">
            <a:spAutoFit/>
          </a:bodyPr>
          <a:lstStyle/>
          <a:p>
            <a:r>
              <a:rPr lang="en-US" sz="3600" b="1" dirty="0">
                <a:solidFill>
                  <a:srgbClr val="065B94"/>
                </a:solidFill>
              </a:rPr>
              <a:t>SA</a:t>
            </a:r>
          </a:p>
        </p:txBody>
      </p:sp>
      <p:pic>
        <p:nvPicPr>
          <p:cNvPr id="9" name="Picture Placeholder 8">
            <a:extLst>
              <a:ext uri="{FF2B5EF4-FFF2-40B4-BE49-F238E27FC236}">
                <a16:creationId xmlns:a16="http://schemas.microsoft.com/office/drawing/2014/main" id="{4520EA41-2C1C-440F-A80D-A601DBA43043}"/>
              </a:ext>
            </a:extLst>
          </p:cNvPr>
          <p:cNvPicPr>
            <a:picLocks noGrp="1" noChangeAspect="1"/>
          </p:cNvPicPr>
          <p:nvPr>
            <p:ph type="pic" sz="quarter" idx="10"/>
          </p:nvPr>
        </p:nvPicPr>
        <p:blipFill rotWithShape="1">
          <a:blip r:embed="rId2"/>
          <a:srcRect l="-188" r="-188"/>
          <a:stretch/>
        </p:blipFill>
        <p:spPr>
          <a:xfrm>
            <a:off x="918682" y="1881743"/>
            <a:ext cx="9897813" cy="4081311"/>
          </a:xfrm>
        </p:spPr>
      </p:pic>
    </p:spTree>
    <p:extLst>
      <p:ext uri="{BB962C8B-B14F-4D97-AF65-F5344CB8AC3E}">
        <p14:creationId xmlns:p14="http://schemas.microsoft.com/office/powerpoint/2010/main" val="676839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863FBD1-207D-F789-6A53-04E07F8439BB}"/>
              </a:ext>
            </a:extLst>
          </p:cNvPr>
          <p:cNvSpPr txBox="1"/>
          <p:nvPr/>
        </p:nvSpPr>
        <p:spPr>
          <a:xfrm>
            <a:off x="838201" y="3993049"/>
            <a:ext cx="4853214" cy="1446550"/>
          </a:xfrm>
          <a:prstGeom prst="rect">
            <a:avLst/>
          </a:prstGeom>
          <a:noFill/>
        </p:spPr>
        <p:txBody>
          <a:bodyPr wrap="square" rtlCol="0">
            <a:spAutoFit/>
          </a:bodyPr>
          <a:lstStyle>
            <a:defPPr>
              <a:defRPr lang="en-US"/>
            </a:defPPr>
            <a:lvl1pPr>
              <a:defRPr sz="4400" b="0">
                <a:solidFill>
                  <a:schemeClr val="tx2"/>
                </a:solidFill>
                <a:latin typeface="Playfair Display" pitchFamily="2" charset="0"/>
              </a:defRPr>
            </a:lvl1pPr>
          </a:lstStyle>
          <a:p>
            <a:r>
              <a:rPr lang="en-US" dirty="0">
                <a:latin typeface="Arial Rounded MT Bold" panose="020F0704030504030204" pitchFamily="34" charset="0"/>
              </a:rPr>
              <a:t>Ethical Considerations</a:t>
            </a:r>
          </a:p>
        </p:txBody>
      </p:sp>
      <p:sp>
        <p:nvSpPr>
          <p:cNvPr id="4" name="TextBox 3">
            <a:extLst>
              <a:ext uri="{FF2B5EF4-FFF2-40B4-BE49-F238E27FC236}">
                <a16:creationId xmlns:a16="http://schemas.microsoft.com/office/drawing/2014/main" id="{67CEC4A0-EFF8-686B-CCF8-50318789DC31}"/>
              </a:ext>
            </a:extLst>
          </p:cNvPr>
          <p:cNvSpPr txBox="1"/>
          <p:nvPr/>
        </p:nvSpPr>
        <p:spPr>
          <a:xfrm>
            <a:off x="838200" y="5440270"/>
            <a:ext cx="2129641" cy="292388"/>
          </a:xfrm>
          <a:prstGeom prst="rect">
            <a:avLst/>
          </a:prstGeom>
          <a:noFill/>
        </p:spPr>
        <p:txBody>
          <a:bodyPr wrap="square" rtlCol="0">
            <a:spAutoFit/>
          </a:bodyPr>
          <a:lstStyle>
            <a:defPPr>
              <a:defRPr lang="en-US"/>
            </a:defPPr>
            <a:lvl1pPr>
              <a:defRPr sz="1300">
                <a:solidFill>
                  <a:schemeClr val="tx2"/>
                </a:solidFill>
                <a:latin typeface="Courgette" panose="02000603070400060004" pitchFamily="2" charset="0"/>
              </a:defRPr>
            </a:lvl1pPr>
          </a:lstStyle>
          <a:p>
            <a:r>
              <a:rPr lang="en-US" dirty="0">
                <a:latin typeface="Segoe UI Black" panose="020B0A02040204020203" pitchFamily="34" charset="0"/>
              </a:rPr>
              <a:t>Scholar Research</a:t>
            </a:r>
          </a:p>
        </p:txBody>
      </p:sp>
      <p:sp>
        <p:nvSpPr>
          <p:cNvPr id="6" name="TextBox 5">
            <a:extLst>
              <a:ext uri="{FF2B5EF4-FFF2-40B4-BE49-F238E27FC236}">
                <a16:creationId xmlns:a16="http://schemas.microsoft.com/office/drawing/2014/main" id="{238B03F6-0F0B-4594-8F12-72BBE7A55C4E}"/>
              </a:ext>
            </a:extLst>
          </p:cNvPr>
          <p:cNvSpPr txBox="1"/>
          <p:nvPr/>
        </p:nvSpPr>
        <p:spPr>
          <a:xfrm>
            <a:off x="982494" y="1235413"/>
            <a:ext cx="6478621" cy="646331"/>
          </a:xfrm>
          <a:prstGeom prst="rect">
            <a:avLst/>
          </a:prstGeom>
          <a:noFill/>
        </p:spPr>
        <p:txBody>
          <a:bodyPr wrap="square" rtlCol="0">
            <a:spAutoFit/>
          </a:bodyPr>
          <a:lstStyle/>
          <a:p>
            <a:r>
              <a:rPr lang="en-US" sz="3600" b="1" dirty="0">
                <a:solidFill>
                  <a:srgbClr val="065B94"/>
                </a:solidFill>
              </a:rPr>
              <a:t>Correlation Analysis</a:t>
            </a:r>
          </a:p>
        </p:txBody>
      </p:sp>
      <p:pic>
        <p:nvPicPr>
          <p:cNvPr id="11" name="Picture Placeholder 10">
            <a:extLst>
              <a:ext uri="{FF2B5EF4-FFF2-40B4-BE49-F238E27FC236}">
                <a16:creationId xmlns:a16="http://schemas.microsoft.com/office/drawing/2014/main" id="{FE65953E-C00A-42F6-97A4-F8B6669F4F4E}"/>
              </a:ext>
            </a:extLst>
          </p:cNvPr>
          <p:cNvPicPr>
            <a:picLocks noGrp="1" noChangeAspect="1"/>
          </p:cNvPicPr>
          <p:nvPr>
            <p:ph type="pic" sz="quarter" idx="10"/>
          </p:nvPr>
        </p:nvPicPr>
        <p:blipFill rotWithShape="1">
          <a:blip r:embed="rId2"/>
          <a:srcRect l="-107" r="-107"/>
          <a:stretch/>
        </p:blipFill>
        <p:spPr>
          <a:xfrm>
            <a:off x="838197" y="2005083"/>
            <a:ext cx="9621683" cy="4113615"/>
          </a:xfrm>
        </p:spPr>
      </p:pic>
    </p:spTree>
    <p:extLst>
      <p:ext uri="{BB962C8B-B14F-4D97-AF65-F5344CB8AC3E}">
        <p14:creationId xmlns:p14="http://schemas.microsoft.com/office/powerpoint/2010/main" val="4019730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863FBD1-207D-F789-6A53-04E07F8439BB}"/>
              </a:ext>
            </a:extLst>
          </p:cNvPr>
          <p:cNvSpPr txBox="1"/>
          <p:nvPr/>
        </p:nvSpPr>
        <p:spPr>
          <a:xfrm>
            <a:off x="838201" y="3993049"/>
            <a:ext cx="4853214" cy="1446550"/>
          </a:xfrm>
          <a:prstGeom prst="rect">
            <a:avLst/>
          </a:prstGeom>
          <a:noFill/>
        </p:spPr>
        <p:txBody>
          <a:bodyPr wrap="square" rtlCol="0">
            <a:spAutoFit/>
          </a:bodyPr>
          <a:lstStyle>
            <a:defPPr>
              <a:defRPr lang="en-US"/>
            </a:defPPr>
            <a:lvl1pPr>
              <a:defRPr sz="4400" b="0">
                <a:solidFill>
                  <a:schemeClr val="tx2"/>
                </a:solidFill>
                <a:latin typeface="Playfair Display" pitchFamily="2" charset="0"/>
              </a:defRPr>
            </a:lvl1pPr>
          </a:lstStyle>
          <a:p>
            <a:r>
              <a:rPr lang="en-US" dirty="0">
                <a:latin typeface="Arial Rounded MT Bold" panose="020F0704030504030204" pitchFamily="34" charset="0"/>
              </a:rPr>
              <a:t>Ethical Considerations</a:t>
            </a:r>
          </a:p>
        </p:txBody>
      </p:sp>
      <p:sp>
        <p:nvSpPr>
          <p:cNvPr id="4" name="TextBox 3">
            <a:extLst>
              <a:ext uri="{FF2B5EF4-FFF2-40B4-BE49-F238E27FC236}">
                <a16:creationId xmlns:a16="http://schemas.microsoft.com/office/drawing/2014/main" id="{67CEC4A0-EFF8-686B-CCF8-50318789DC31}"/>
              </a:ext>
            </a:extLst>
          </p:cNvPr>
          <p:cNvSpPr txBox="1"/>
          <p:nvPr/>
        </p:nvSpPr>
        <p:spPr>
          <a:xfrm>
            <a:off x="838200" y="5440270"/>
            <a:ext cx="2129641" cy="292388"/>
          </a:xfrm>
          <a:prstGeom prst="rect">
            <a:avLst/>
          </a:prstGeom>
          <a:noFill/>
        </p:spPr>
        <p:txBody>
          <a:bodyPr wrap="square" rtlCol="0">
            <a:spAutoFit/>
          </a:bodyPr>
          <a:lstStyle>
            <a:defPPr>
              <a:defRPr lang="en-US"/>
            </a:defPPr>
            <a:lvl1pPr>
              <a:defRPr sz="1300">
                <a:solidFill>
                  <a:schemeClr val="tx2"/>
                </a:solidFill>
                <a:latin typeface="Courgette" panose="02000603070400060004" pitchFamily="2" charset="0"/>
              </a:defRPr>
            </a:lvl1pPr>
          </a:lstStyle>
          <a:p>
            <a:r>
              <a:rPr lang="en-US" dirty="0">
                <a:latin typeface="Segoe UI Black" panose="020B0A02040204020203" pitchFamily="34" charset="0"/>
              </a:rPr>
              <a:t>Scholar Research</a:t>
            </a:r>
          </a:p>
        </p:txBody>
      </p:sp>
      <p:sp>
        <p:nvSpPr>
          <p:cNvPr id="6" name="TextBox 5">
            <a:extLst>
              <a:ext uri="{FF2B5EF4-FFF2-40B4-BE49-F238E27FC236}">
                <a16:creationId xmlns:a16="http://schemas.microsoft.com/office/drawing/2014/main" id="{238B03F6-0F0B-4594-8F12-72BBE7A55C4E}"/>
              </a:ext>
            </a:extLst>
          </p:cNvPr>
          <p:cNvSpPr txBox="1"/>
          <p:nvPr/>
        </p:nvSpPr>
        <p:spPr>
          <a:xfrm>
            <a:off x="982494" y="1235413"/>
            <a:ext cx="6478621" cy="646331"/>
          </a:xfrm>
          <a:prstGeom prst="rect">
            <a:avLst/>
          </a:prstGeom>
          <a:noFill/>
        </p:spPr>
        <p:txBody>
          <a:bodyPr wrap="square" rtlCol="0">
            <a:spAutoFit/>
          </a:bodyPr>
          <a:lstStyle/>
          <a:p>
            <a:r>
              <a:rPr lang="en-US" sz="3600" b="1" dirty="0">
                <a:solidFill>
                  <a:srgbClr val="065B94"/>
                </a:solidFill>
              </a:rPr>
              <a:t>Team Members</a:t>
            </a:r>
          </a:p>
        </p:txBody>
      </p:sp>
      <p:pic>
        <p:nvPicPr>
          <p:cNvPr id="7" name="Picture Placeholder 6">
            <a:extLst>
              <a:ext uri="{FF2B5EF4-FFF2-40B4-BE49-F238E27FC236}">
                <a16:creationId xmlns:a16="http://schemas.microsoft.com/office/drawing/2014/main" id="{AF5E704B-7AC3-42AD-9A9F-A9966149366C}"/>
              </a:ext>
            </a:extLst>
          </p:cNvPr>
          <p:cNvPicPr>
            <a:picLocks noGrp="1" noChangeAspect="1"/>
          </p:cNvPicPr>
          <p:nvPr>
            <p:ph type="pic" sz="quarter" idx="10"/>
          </p:nvPr>
        </p:nvPicPr>
        <p:blipFill rotWithShape="1">
          <a:blip r:embed="rId2"/>
          <a:srcRect l="329" r="329"/>
          <a:stretch/>
        </p:blipFill>
        <p:spPr>
          <a:xfrm>
            <a:off x="838200" y="1926771"/>
            <a:ext cx="9356388" cy="4165782"/>
          </a:xfrm>
        </p:spPr>
      </p:pic>
    </p:spTree>
    <p:extLst>
      <p:ext uri="{BB962C8B-B14F-4D97-AF65-F5344CB8AC3E}">
        <p14:creationId xmlns:p14="http://schemas.microsoft.com/office/powerpoint/2010/main" val="3341842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DF7060-F834-3922-0154-1B25C54C2887}"/>
              </a:ext>
            </a:extLst>
          </p:cNvPr>
          <p:cNvSpPr>
            <a:spLocks noGrp="1"/>
          </p:cNvSpPr>
          <p:nvPr>
            <p:ph type="body" sz="quarter" idx="10"/>
          </p:nvPr>
        </p:nvSpPr>
        <p:spPr>
          <a:xfrm>
            <a:off x="652564" y="2192401"/>
            <a:ext cx="10515600" cy="3951493"/>
          </a:xfrm>
        </p:spPr>
        <p:txBody>
          <a:bodyPr>
            <a:normAutofit/>
          </a:bodyPr>
          <a:lstStyle/>
          <a:p>
            <a:pPr marL="0" indent="0">
              <a:buNone/>
            </a:pPr>
            <a:r>
              <a:rPr lang="en-US" sz="2000" dirty="0">
                <a:solidFill>
                  <a:srgbClr val="065B94"/>
                </a:solidFill>
              </a:rPr>
              <a:t>Challenge &amp; Work &amp; Tools</a:t>
            </a:r>
            <a:endParaRPr lang="en-EG" sz="2000" dirty="0">
              <a:solidFill>
                <a:srgbClr val="065B94"/>
              </a:solidFill>
            </a:endParaRPr>
          </a:p>
        </p:txBody>
      </p:sp>
      <p:sp>
        <p:nvSpPr>
          <p:cNvPr id="3" name="Title 2">
            <a:extLst>
              <a:ext uri="{FF2B5EF4-FFF2-40B4-BE49-F238E27FC236}">
                <a16:creationId xmlns:a16="http://schemas.microsoft.com/office/drawing/2014/main" id="{EF0CDF0E-D2B6-1E71-B3BF-39DA46C31246}"/>
              </a:ext>
            </a:extLst>
          </p:cNvPr>
          <p:cNvSpPr>
            <a:spLocks noGrp="1"/>
          </p:cNvSpPr>
          <p:nvPr>
            <p:ph type="title"/>
          </p:nvPr>
        </p:nvSpPr>
        <p:spPr/>
        <p:txBody>
          <a:bodyPr/>
          <a:lstStyle/>
          <a:p>
            <a:r>
              <a:rPr lang="en-US" dirty="0">
                <a:solidFill>
                  <a:srgbClr val="065B94"/>
                </a:solidFill>
              </a:rPr>
              <a:t>What we Faced in</a:t>
            </a:r>
            <a:endParaRPr lang="en-EG" dirty="0">
              <a:solidFill>
                <a:srgbClr val="065B94"/>
              </a:solidFill>
            </a:endParaRPr>
          </a:p>
        </p:txBody>
      </p:sp>
      <p:pic>
        <p:nvPicPr>
          <p:cNvPr id="5" name="Graphic 4">
            <a:extLst>
              <a:ext uri="{FF2B5EF4-FFF2-40B4-BE49-F238E27FC236}">
                <a16:creationId xmlns:a16="http://schemas.microsoft.com/office/drawing/2014/main" id="{C57B7471-F423-ACCB-A1CB-E7DA90568D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9390" y="2606848"/>
            <a:ext cx="341783" cy="365760"/>
          </a:xfrm>
          <a:prstGeom prst="rect">
            <a:avLst/>
          </a:prstGeom>
        </p:spPr>
      </p:pic>
      <p:sp>
        <p:nvSpPr>
          <p:cNvPr id="6" name="TextBox 5">
            <a:extLst>
              <a:ext uri="{FF2B5EF4-FFF2-40B4-BE49-F238E27FC236}">
                <a16:creationId xmlns:a16="http://schemas.microsoft.com/office/drawing/2014/main" id="{0D2CEDD2-8E10-4EC2-34E8-EAA286C51116}"/>
              </a:ext>
            </a:extLst>
          </p:cNvPr>
          <p:cNvSpPr txBox="1"/>
          <p:nvPr/>
        </p:nvSpPr>
        <p:spPr>
          <a:xfrm>
            <a:off x="1001486" y="3713659"/>
            <a:ext cx="2390938" cy="1477328"/>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marL="285750" lvl="0" indent="-285750" eaLnBrk="0" fontAlgn="base" hangingPunct="0">
              <a:lnSpc>
                <a:spcPct val="100000"/>
              </a:lnSpc>
              <a:spcBef>
                <a:spcPct val="0"/>
              </a:spcBef>
              <a:spcAft>
                <a:spcPts val="600"/>
              </a:spcAft>
              <a:buFont typeface="Arial" panose="020B0604020202020204" pitchFamily="34" charset="0"/>
              <a:buChar char="•"/>
            </a:pPr>
            <a:r>
              <a:rPr lang="en-US" altLang="en-US" sz="1400" dirty="0">
                <a:solidFill>
                  <a:srgbClr val="0D76BD"/>
                </a:solidFill>
                <a:latin typeface="Arial" panose="020B0604020202020204" pitchFamily="34" charset="0"/>
              </a:rPr>
              <a:t>API limits </a:t>
            </a:r>
          </a:p>
          <a:p>
            <a:pPr marL="285750" lvl="0" indent="-285750" eaLnBrk="0" fontAlgn="base" hangingPunct="0">
              <a:lnSpc>
                <a:spcPct val="100000"/>
              </a:lnSpc>
              <a:spcBef>
                <a:spcPct val="0"/>
              </a:spcBef>
              <a:spcAft>
                <a:spcPts val="600"/>
              </a:spcAft>
              <a:buFont typeface="Arial" panose="020B0604020202020204" pitchFamily="34" charset="0"/>
              <a:buChar char="•"/>
            </a:pPr>
            <a:r>
              <a:rPr lang="en-US" altLang="en-US" sz="1400" dirty="0">
                <a:solidFill>
                  <a:srgbClr val="0D76BD"/>
                </a:solidFill>
                <a:latin typeface="Arial" panose="020B0604020202020204" pitchFamily="34" charset="0"/>
              </a:rPr>
              <a:t>Noisy comments </a:t>
            </a:r>
          </a:p>
          <a:p>
            <a:pPr marL="285750" lvl="0" indent="-285750" eaLnBrk="0" fontAlgn="base" hangingPunct="0">
              <a:lnSpc>
                <a:spcPct val="100000"/>
              </a:lnSpc>
              <a:spcBef>
                <a:spcPct val="0"/>
              </a:spcBef>
              <a:spcAft>
                <a:spcPts val="600"/>
              </a:spcAft>
              <a:buFont typeface="Arial" panose="020B0604020202020204" pitchFamily="34" charset="0"/>
              <a:buChar char="•"/>
            </a:pPr>
            <a:r>
              <a:rPr lang="en-US" altLang="en-US" sz="1400" dirty="0">
                <a:solidFill>
                  <a:srgbClr val="0D76BD"/>
                </a:solidFill>
                <a:latin typeface="Arial" panose="020B0604020202020204" pitchFamily="34" charset="0"/>
              </a:rPr>
              <a:t>Emojis </a:t>
            </a:r>
          </a:p>
          <a:p>
            <a:pPr marL="285750" lvl="0" indent="-285750" eaLnBrk="0" fontAlgn="base" hangingPunct="0">
              <a:lnSpc>
                <a:spcPct val="100000"/>
              </a:lnSpc>
              <a:spcBef>
                <a:spcPct val="0"/>
              </a:spcBef>
              <a:spcAft>
                <a:spcPts val="600"/>
              </a:spcAft>
              <a:buFont typeface="Arial" panose="020B0604020202020204" pitchFamily="34" charset="0"/>
              <a:buChar char="•"/>
            </a:pPr>
            <a:r>
              <a:rPr lang="en-US" altLang="en-US" sz="1400" dirty="0">
                <a:solidFill>
                  <a:srgbClr val="0D76BD"/>
                </a:solidFill>
                <a:latin typeface="Arial" panose="020B0604020202020204" pitchFamily="34" charset="0"/>
              </a:rPr>
              <a:t>Mixed languages </a:t>
            </a:r>
          </a:p>
          <a:p>
            <a:pPr marL="285750" lvl="0" indent="-285750" eaLnBrk="0" fontAlgn="base" hangingPunct="0">
              <a:lnSpc>
                <a:spcPct val="100000"/>
              </a:lnSpc>
              <a:spcBef>
                <a:spcPct val="0"/>
              </a:spcBef>
              <a:spcAft>
                <a:spcPts val="600"/>
              </a:spcAft>
              <a:buFont typeface="Arial" panose="020B0604020202020204" pitchFamily="34" charset="0"/>
              <a:buChar char="•"/>
            </a:pPr>
            <a:r>
              <a:rPr lang="en-US" altLang="en-US" sz="1400" dirty="0">
                <a:solidFill>
                  <a:srgbClr val="0D76BD"/>
                </a:solidFill>
                <a:latin typeface="Arial" panose="020B0604020202020204" pitchFamily="34" charset="0"/>
              </a:rPr>
              <a:t>Slang </a:t>
            </a:r>
          </a:p>
        </p:txBody>
      </p:sp>
      <p:sp>
        <p:nvSpPr>
          <p:cNvPr id="7" name="TextBox 6">
            <a:extLst>
              <a:ext uri="{FF2B5EF4-FFF2-40B4-BE49-F238E27FC236}">
                <a16:creationId xmlns:a16="http://schemas.microsoft.com/office/drawing/2014/main" id="{36B49C78-05C0-0163-11BF-8450A70E90AF}"/>
              </a:ext>
            </a:extLst>
          </p:cNvPr>
          <p:cNvSpPr txBox="1"/>
          <p:nvPr/>
        </p:nvSpPr>
        <p:spPr>
          <a:xfrm>
            <a:off x="1001486" y="3001923"/>
            <a:ext cx="2495471"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65B94"/>
                </a:solidFill>
                <a:latin typeface="Arial" panose="020B0604020202020204" pitchFamily="34" charset="0"/>
              </a:rPr>
              <a:t>Challenges</a:t>
            </a:r>
            <a:endParaRPr lang="en-US" sz="1800" b="1" dirty="0">
              <a:solidFill>
                <a:srgbClr val="065B94"/>
              </a:solidFill>
              <a:latin typeface="Arial" panose="020B0604020202020204" pitchFamily="34" charset="0"/>
              <a:cs typeface="Segoe UI Semibold" panose="020B0702040204020203" pitchFamily="34" charset="0"/>
            </a:endParaRPr>
          </a:p>
        </p:txBody>
      </p:sp>
      <p:cxnSp>
        <p:nvCxnSpPr>
          <p:cNvPr id="8" name="Straight Connector 7">
            <a:extLst>
              <a:ext uri="{FF2B5EF4-FFF2-40B4-BE49-F238E27FC236}">
                <a16:creationId xmlns:a16="http://schemas.microsoft.com/office/drawing/2014/main" id="{588A89B5-FF6F-60F1-7BFB-60CA70287BEA}"/>
              </a:ext>
            </a:extLst>
          </p:cNvPr>
          <p:cNvCxnSpPr/>
          <p:nvPr/>
        </p:nvCxnSpPr>
        <p:spPr>
          <a:xfrm>
            <a:off x="4119502" y="3074864"/>
            <a:ext cx="0" cy="2569464"/>
          </a:xfrm>
          <a:prstGeom prst="line">
            <a:avLst/>
          </a:prstGeom>
          <a:ln w="12700">
            <a:solidFill>
              <a:schemeClr val="tx2">
                <a:alpha val="10000"/>
              </a:schemeClr>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6E30F7A2-D9FC-299A-1E58-62CC44E762B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54484" y="2599386"/>
            <a:ext cx="341783" cy="341783"/>
          </a:xfrm>
          <a:prstGeom prst="rect">
            <a:avLst/>
          </a:prstGeom>
        </p:spPr>
      </p:pic>
      <p:cxnSp>
        <p:nvCxnSpPr>
          <p:cNvPr id="10" name="Straight Connector 9">
            <a:extLst>
              <a:ext uri="{FF2B5EF4-FFF2-40B4-BE49-F238E27FC236}">
                <a16:creationId xmlns:a16="http://schemas.microsoft.com/office/drawing/2014/main" id="{3140108D-130A-A231-780A-8FB8F1E4FFAC}"/>
              </a:ext>
            </a:extLst>
          </p:cNvPr>
          <p:cNvCxnSpPr/>
          <p:nvPr/>
        </p:nvCxnSpPr>
        <p:spPr>
          <a:xfrm>
            <a:off x="7964596" y="3074864"/>
            <a:ext cx="0" cy="2569464"/>
          </a:xfrm>
          <a:prstGeom prst="line">
            <a:avLst/>
          </a:prstGeom>
          <a:ln w="12700">
            <a:solidFill>
              <a:schemeClr val="tx2">
                <a:alpha val="10000"/>
              </a:schemeClr>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FD29E64F-BC38-3D2F-5E31-1FA831C205EC}"/>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799577" y="2570205"/>
            <a:ext cx="341783" cy="341783"/>
          </a:xfrm>
          <a:prstGeom prst="rect">
            <a:avLst/>
          </a:prstGeom>
        </p:spPr>
      </p:pic>
      <p:sp>
        <p:nvSpPr>
          <p:cNvPr id="12" name="TextBox 11">
            <a:extLst>
              <a:ext uri="{FF2B5EF4-FFF2-40B4-BE49-F238E27FC236}">
                <a16:creationId xmlns:a16="http://schemas.microsoft.com/office/drawing/2014/main" id="{876696AC-BEE6-7DC5-A14C-A1CECBFD09CA}"/>
              </a:ext>
            </a:extLst>
          </p:cNvPr>
          <p:cNvSpPr txBox="1"/>
          <p:nvPr/>
        </p:nvSpPr>
        <p:spPr>
          <a:xfrm>
            <a:off x="4476950" y="3783347"/>
            <a:ext cx="2390938" cy="1674754"/>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marL="285750" indent="-285750">
              <a:buFont typeface="Arial" panose="020B0604020202020204" pitchFamily="34" charset="0"/>
              <a:buChar char="•"/>
            </a:pPr>
            <a:r>
              <a:rPr lang="en-US" sz="1400" dirty="0">
                <a:solidFill>
                  <a:srgbClr val="0D76BD"/>
                </a:solidFill>
                <a:latin typeface="Arial" panose="020B0604020202020204" pitchFamily="34" charset="0"/>
              </a:rPr>
              <a:t>Deep Learning </a:t>
            </a:r>
          </a:p>
          <a:p>
            <a:pPr marL="285750" indent="-285750">
              <a:buFont typeface="Arial" panose="020B0604020202020204" pitchFamily="34" charset="0"/>
              <a:buChar char="•"/>
            </a:pPr>
            <a:r>
              <a:rPr lang="en-US" sz="1400" dirty="0">
                <a:solidFill>
                  <a:srgbClr val="0D76BD"/>
                </a:solidFill>
                <a:latin typeface="Arial" panose="020B0604020202020204" pitchFamily="34" charset="0"/>
              </a:rPr>
              <a:t>BERT </a:t>
            </a:r>
          </a:p>
          <a:p>
            <a:pPr marL="285750" indent="-285750">
              <a:buFont typeface="Arial" panose="020B0604020202020204" pitchFamily="34" charset="0"/>
              <a:buChar char="•"/>
            </a:pPr>
            <a:r>
              <a:rPr lang="en-US" sz="1400" dirty="0">
                <a:solidFill>
                  <a:srgbClr val="0D76BD"/>
                </a:solidFill>
                <a:latin typeface="Arial" panose="020B0604020202020204" pitchFamily="34" charset="0"/>
              </a:rPr>
              <a:t>Arabic Sentiment Analysis </a:t>
            </a:r>
          </a:p>
          <a:p>
            <a:pPr marL="285750" indent="-285750">
              <a:buFont typeface="Arial" panose="020B0604020202020204" pitchFamily="34" charset="0"/>
              <a:buChar char="•"/>
            </a:pPr>
            <a:r>
              <a:rPr lang="en-US" sz="1400" dirty="0">
                <a:solidFill>
                  <a:srgbClr val="0D76BD"/>
                </a:solidFill>
                <a:latin typeface="Arial" panose="020B0604020202020204" pitchFamily="34" charset="0"/>
              </a:rPr>
              <a:t>Real-time Dashboard </a:t>
            </a:r>
          </a:p>
        </p:txBody>
      </p:sp>
      <p:sp>
        <p:nvSpPr>
          <p:cNvPr id="13" name="TextBox 12">
            <a:extLst>
              <a:ext uri="{FF2B5EF4-FFF2-40B4-BE49-F238E27FC236}">
                <a16:creationId xmlns:a16="http://schemas.microsoft.com/office/drawing/2014/main" id="{90965089-AECB-B2C3-827E-A6676ACE5AE7}"/>
              </a:ext>
            </a:extLst>
          </p:cNvPr>
          <p:cNvSpPr txBox="1"/>
          <p:nvPr/>
        </p:nvSpPr>
        <p:spPr>
          <a:xfrm>
            <a:off x="4476950" y="2915967"/>
            <a:ext cx="2495471" cy="369332"/>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a:lnSpc>
                <a:spcPct val="100000"/>
              </a:lnSpc>
            </a:pPr>
            <a:r>
              <a:rPr lang="en-US" sz="1800" b="1" dirty="0">
                <a:solidFill>
                  <a:srgbClr val="065B94"/>
                </a:solidFill>
                <a:latin typeface="Arial" panose="020B0604020202020204" pitchFamily="34" charset="0"/>
              </a:rPr>
              <a:t>Future Work</a:t>
            </a:r>
            <a:endParaRPr lang="en-US" sz="1800" b="1" dirty="0">
              <a:solidFill>
                <a:srgbClr val="065B94"/>
              </a:solidFill>
              <a:latin typeface="Arial" panose="020B0604020202020204" pitchFamily="34" charset="0"/>
              <a:cs typeface="Segoe UI Semibold" panose="020B0702040204020203" pitchFamily="34" charset="0"/>
            </a:endParaRPr>
          </a:p>
        </p:txBody>
      </p:sp>
      <p:sp>
        <p:nvSpPr>
          <p:cNvPr id="14" name="TextBox 13">
            <a:extLst>
              <a:ext uri="{FF2B5EF4-FFF2-40B4-BE49-F238E27FC236}">
                <a16:creationId xmlns:a16="http://schemas.microsoft.com/office/drawing/2014/main" id="{1CDCDA03-008B-FE2B-AFE0-2FCE87BB4CBF}"/>
              </a:ext>
            </a:extLst>
          </p:cNvPr>
          <p:cNvSpPr txBox="1"/>
          <p:nvPr/>
        </p:nvSpPr>
        <p:spPr>
          <a:xfrm>
            <a:off x="8266571" y="3507490"/>
            <a:ext cx="2446410" cy="3237874"/>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pPr marL="285750" indent="-285750">
              <a:buFont typeface="Arial" panose="020B0604020202020204" pitchFamily="34" charset="0"/>
              <a:buChar char="•"/>
            </a:pPr>
            <a:r>
              <a:rPr lang="en-US" sz="1400" dirty="0">
                <a:latin typeface="Arial" panose="020B0604020202020204" pitchFamily="34" charset="0"/>
              </a:rPr>
              <a:t>NumPy</a:t>
            </a:r>
          </a:p>
          <a:p>
            <a:pPr marL="285750" indent="-285750">
              <a:buFont typeface="Arial" panose="020B0604020202020204" pitchFamily="34" charset="0"/>
              <a:buChar char="•"/>
            </a:pPr>
            <a:r>
              <a:rPr lang="en-US" sz="1400" dirty="0">
                <a:latin typeface="Arial" panose="020B0604020202020204" pitchFamily="34" charset="0"/>
              </a:rPr>
              <a:t>Pandas	      </a:t>
            </a:r>
          </a:p>
          <a:p>
            <a:pPr marL="285750" indent="-285750">
              <a:buFont typeface="Arial" panose="020B0604020202020204" pitchFamily="34" charset="0"/>
              <a:buChar char="•"/>
            </a:pPr>
            <a:r>
              <a:rPr lang="en-US" sz="1400" dirty="0">
                <a:latin typeface="Arial" panose="020B0604020202020204" pitchFamily="34" charset="0"/>
              </a:rPr>
              <a:t>NLTK</a:t>
            </a:r>
          </a:p>
          <a:p>
            <a:pPr marL="285750" indent="-285750">
              <a:buFont typeface="Arial" panose="020B0604020202020204" pitchFamily="34" charset="0"/>
              <a:buChar char="•"/>
            </a:pPr>
            <a:r>
              <a:rPr lang="en-US" sz="1400" dirty="0" err="1">
                <a:latin typeface="Arial" panose="020B0604020202020204" pitchFamily="34" charset="0"/>
              </a:rPr>
              <a:t>TextBlob</a:t>
            </a:r>
            <a:endParaRPr lang="en-US" sz="1400" dirty="0">
              <a:latin typeface="Arial" panose="020B0604020202020204" pitchFamily="34" charset="0"/>
            </a:endParaRPr>
          </a:p>
          <a:p>
            <a:pPr marL="285750" indent="-285750">
              <a:buFont typeface="Arial" panose="020B0604020202020204" pitchFamily="34" charset="0"/>
              <a:buChar char="•"/>
            </a:pPr>
            <a:r>
              <a:rPr lang="en-US" sz="1400" dirty="0" err="1">
                <a:latin typeface="Arial" panose="020B0604020202020204" pitchFamily="34" charset="0"/>
              </a:rPr>
              <a:t>Scikit</a:t>
            </a:r>
            <a:r>
              <a:rPr lang="en-US" sz="1400" dirty="0">
                <a:latin typeface="Arial" panose="020B0604020202020204" pitchFamily="34" charset="0"/>
              </a:rPr>
              <a:t>-learn</a:t>
            </a:r>
          </a:p>
          <a:p>
            <a:pPr marL="285750" indent="-285750">
              <a:buFont typeface="Arial" panose="020B0604020202020204" pitchFamily="34" charset="0"/>
              <a:buChar char="•"/>
            </a:pPr>
            <a:r>
              <a:rPr lang="en-US" dirty="0" err="1">
                <a:latin typeface="Arial" panose="020B0604020202020204" pitchFamily="34" charset="0"/>
              </a:rPr>
              <a:t>Streamlit</a:t>
            </a:r>
            <a:endParaRPr lang="en-US" dirty="0">
              <a:latin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rPr>
              <a:t>Power BI</a:t>
            </a:r>
            <a:endParaRPr lang="en-US" sz="1400" dirty="0">
              <a:latin typeface="Arial" panose="020B0604020202020204" pitchFamily="34" charset="0"/>
            </a:endParaRPr>
          </a:p>
          <a:p>
            <a:pPr marL="285750" indent="-285750">
              <a:buFont typeface="Arial" panose="020B0604020202020204" pitchFamily="34" charset="0"/>
              <a:buChar char="•"/>
            </a:pPr>
            <a:r>
              <a:rPr lang="en-US" sz="1400" dirty="0" err="1">
                <a:latin typeface="Arial" panose="020B0604020202020204" pitchFamily="34" charset="0"/>
              </a:rPr>
              <a:t>Plotly</a:t>
            </a:r>
            <a:endParaRPr lang="en-US" sz="1400" dirty="0">
              <a:latin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rPr>
              <a:t>Google </a:t>
            </a:r>
            <a:r>
              <a:rPr lang="en-US" sz="1400" dirty="0" err="1">
                <a:latin typeface="Arial" panose="020B0604020202020204" pitchFamily="34" charset="0"/>
              </a:rPr>
              <a:t>Colab</a:t>
            </a:r>
            <a:endParaRPr lang="en-US" sz="1400" dirty="0">
              <a:latin typeface="Arial" panose="020B0604020202020204" pitchFamily="34" charset="0"/>
            </a:endParaRPr>
          </a:p>
          <a:p>
            <a:pPr marL="285750" indent="-285750">
              <a:buFont typeface="Arial" panose="020B0604020202020204" pitchFamily="34" charset="0"/>
              <a:buChar char="•"/>
            </a:pPr>
            <a:r>
              <a:rPr lang="en-US" sz="1400" dirty="0">
                <a:latin typeface="Arial" panose="020B0604020202020204" pitchFamily="34" charset="0"/>
              </a:rPr>
              <a:t>YouTube API</a:t>
            </a:r>
          </a:p>
        </p:txBody>
      </p:sp>
      <p:sp>
        <p:nvSpPr>
          <p:cNvPr id="15" name="TextBox 14">
            <a:extLst>
              <a:ext uri="{FF2B5EF4-FFF2-40B4-BE49-F238E27FC236}">
                <a16:creationId xmlns:a16="http://schemas.microsoft.com/office/drawing/2014/main" id="{D4CA87E2-2DFF-E7F3-1570-719EED121F45}"/>
              </a:ext>
            </a:extLst>
          </p:cNvPr>
          <p:cNvSpPr txBox="1"/>
          <p:nvPr/>
        </p:nvSpPr>
        <p:spPr>
          <a:xfrm>
            <a:off x="8464010" y="2787903"/>
            <a:ext cx="2495471" cy="872034"/>
          </a:xfrm>
          <a:prstGeom prst="rect">
            <a:avLst/>
          </a:prstGeom>
          <a:noFill/>
        </p:spPr>
        <p:txBody>
          <a:bodyPr wrap="square" rtlCol="0">
            <a:spAutoFit/>
          </a:bodyPr>
          <a:lstStyle>
            <a:defPPr>
              <a:defRPr lang="en-US"/>
            </a:defPPr>
            <a:lvl1pPr>
              <a:lnSpc>
                <a:spcPct val="150000"/>
              </a:lnSpc>
              <a:defRPr sz="1300">
                <a:solidFill>
                  <a:schemeClr val="tx2"/>
                </a:solidFill>
                <a:latin typeface="DM Sans" pitchFamily="2" charset="0"/>
              </a:defRPr>
            </a:lvl1pPr>
          </a:lstStyle>
          <a:p>
            <a:r>
              <a:rPr lang="en-US" sz="1800" b="1" dirty="0">
                <a:latin typeface="Arial" panose="020B0604020202020204" pitchFamily="34" charset="0"/>
              </a:rPr>
              <a:t>Tools &amp; Technologies</a:t>
            </a:r>
          </a:p>
        </p:txBody>
      </p:sp>
    </p:spTree>
    <p:extLst>
      <p:ext uri="{BB962C8B-B14F-4D97-AF65-F5344CB8AC3E}">
        <p14:creationId xmlns:p14="http://schemas.microsoft.com/office/powerpoint/2010/main" val="1358040988"/>
      </p:ext>
    </p:extLst>
  </p:cSld>
  <p:clrMapOvr>
    <a:masterClrMapping/>
  </p:clrMapOvr>
</p:sld>
</file>

<file path=ppt/theme/theme1.xml><?xml version="1.0" encoding="utf-8"?>
<a:theme xmlns:a="http://schemas.openxmlformats.org/drawingml/2006/main" name="Office Theme">
  <a:themeElements>
    <a:clrScheme name="NTI Brand">
      <a:dk1>
        <a:srgbClr val="000000"/>
      </a:dk1>
      <a:lt1>
        <a:srgbClr val="FFFFFF"/>
      </a:lt1>
      <a:dk2>
        <a:srgbClr val="06588F"/>
      </a:dk2>
      <a:lt2>
        <a:srgbClr val="FFFFFF"/>
      </a:lt2>
      <a:accent1>
        <a:srgbClr val="0E639E"/>
      </a:accent1>
      <a:accent2>
        <a:srgbClr val="E9A713"/>
      </a:accent2>
      <a:accent3>
        <a:srgbClr val="EA7355"/>
      </a:accent3>
      <a:accent4>
        <a:srgbClr val="4FA9AC"/>
      </a:accent4>
      <a:accent5>
        <a:srgbClr val="43BCFF"/>
      </a:accent5>
      <a:accent6>
        <a:srgbClr val="6079C2"/>
      </a:accent6>
      <a:hlink>
        <a:srgbClr val="688CC1"/>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I &amp; ESE" id="{1E3C099D-4D26-3541-9A32-31697215961B}" vid="{7F984A55-E95C-A54B-B073-2F5FB430A0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609</TotalTime>
  <Words>681</Words>
  <Application>Microsoft Office PowerPoint</Application>
  <PresentationFormat>Widescreen</PresentationFormat>
  <Paragraphs>149</Paragraphs>
  <Slides>22</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Segoe UI Black</vt:lpstr>
      <vt:lpstr>Baskerville Old Face</vt:lpstr>
      <vt:lpstr>Arial Rounded MT Bold</vt:lpstr>
      <vt:lpstr>Arial</vt:lpstr>
      <vt:lpstr>Arial Black</vt:lpstr>
      <vt:lpstr>Calibri</vt:lpstr>
      <vt:lpstr>Office Theme</vt:lpstr>
      <vt:lpstr>PowerPoint Presentation</vt:lpstr>
      <vt:lpstr>The Team</vt:lpstr>
      <vt:lpstr>Background</vt:lpstr>
      <vt:lpstr>PowerPoint Presentation</vt:lpstr>
      <vt:lpstr>Objectives</vt:lpstr>
      <vt:lpstr>Workflow</vt:lpstr>
      <vt:lpstr>Dataset</vt:lpstr>
      <vt:lpstr>Data Collection</vt:lpstr>
      <vt:lpstr>Data Cleaning</vt:lpstr>
      <vt:lpstr>Exploratory Data Analysis</vt:lpstr>
      <vt:lpstr>NLP Preprocessing</vt:lpstr>
      <vt:lpstr>Sentiment Analysis</vt:lpstr>
      <vt:lpstr>Feature Engineering</vt:lpstr>
      <vt:lpstr>Machine Learning Models</vt:lpstr>
      <vt:lpstr>Model Comparison</vt:lpstr>
      <vt:lpstr>Model Test</vt:lpstr>
      <vt:lpstr>Deployment</vt:lpstr>
      <vt:lpstr>PowerPoint Presentation</vt:lpstr>
      <vt:lpstr>PowerPoint Presentation</vt:lpstr>
      <vt:lpstr>PowerPoint Presentation</vt:lpstr>
      <vt:lpstr>PowerPoint Presentation</vt:lpstr>
      <vt:lpstr>What we Faced 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Sally Samir</dc:creator>
  <cp:lastModifiedBy>Fares Hisham</cp:lastModifiedBy>
  <cp:revision>49</cp:revision>
  <dcterms:created xsi:type="dcterms:W3CDTF">2026-03-27T11:30:08Z</dcterms:created>
  <dcterms:modified xsi:type="dcterms:W3CDTF">2026-08-01T18:46:17Z</dcterms:modified>
</cp:coreProperties>
</file>